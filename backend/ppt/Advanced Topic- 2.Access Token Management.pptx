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12192000"/>
  <p:embeddedFontLst>
    <p:embeddedFont>
      <p:font typeface="Mate"/>
      <p:regular r:id="rId25"/>
      <p:italic r:id="rId26"/>
    </p:embeddedFont>
    <p:embeddedFont>
      <p:font typeface="Inter"/>
      <p:regular r:id="rId27"/>
      <p:bold r:id="rId28"/>
      <p:italic r:id="rId29"/>
      <p:boldItalic r:id="rId30"/>
    </p:embeddedFont>
    <p:embeddedFont>
      <p:font typeface="Montserrat Medium"/>
      <p:regular r:id="rId31"/>
      <p:bold r:id="rId32"/>
      <p:italic r:id="rId33"/>
      <p:boldItalic r:id="rId34"/>
    </p:embeddedFont>
    <p:embeddedFont>
      <p:font typeface="Inter ExtraBold"/>
      <p:bold r:id="rId35"/>
      <p:boldItalic r:id="rId36"/>
    </p:embeddedFont>
    <p:embeddedFont>
      <p:font typeface="Montserrat ExtraBold"/>
      <p:bold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9" roundtripDataSignature="AMtx7milhNS0h8yJlTyyRZeo7cdhDRN9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C521AF-7885-438B-912F-CB11D026CBB5}">
  <a:tblStyle styleId="{F2C521AF-7885-438B-912F-CB11D026CBB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te-italic.fntdata"/><Relationship Id="rId25" Type="http://schemas.openxmlformats.org/officeDocument/2006/relationships/font" Target="fonts/Mate-regular.fntdata"/><Relationship Id="rId28" Type="http://schemas.openxmlformats.org/officeDocument/2006/relationships/font" Target="fonts/Inter-bold.fntdata"/><Relationship Id="rId27" Type="http://schemas.openxmlformats.org/officeDocument/2006/relationships/font" Target="fonts/Inter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Inter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Medium-regular.fntdata"/><Relationship Id="rId30" Type="http://schemas.openxmlformats.org/officeDocument/2006/relationships/font" Target="fonts/Inter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Medium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Medium-bold.fntdata"/><Relationship Id="rId13" Type="http://schemas.openxmlformats.org/officeDocument/2006/relationships/slide" Target="slides/slide8.xml"/><Relationship Id="rId35" Type="http://schemas.openxmlformats.org/officeDocument/2006/relationships/font" Target="fonts/InterExtraBold-bold.fntdata"/><Relationship Id="rId12" Type="http://schemas.openxmlformats.org/officeDocument/2006/relationships/slide" Target="slides/slide7.xml"/><Relationship Id="rId34" Type="http://schemas.openxmlformats.org/officeDocument/2006/relationships/font" Target="fonts/MontserratMedium-boldItalic.fntdata"/><Relationship Id="rId15" Type="http://schemas.openxmlformats.org/officeDocument/2006/relationships/slide" Target="slides/slide10.xml"/><Relationship Id="rId37" Type="http://schemas.openxmlformats.org/officeDocument/2006/relationships/font" Target="fonts/MontserratExtraBold-bold.fntdata"/><Relationship Id="rId14" Type="http://schemas.openxmlformats.org/officeDocument/2006/relationships/slide" Target="slides/slide9.xml"/><Relationship Id="rId36" Type="http://schemas.openxmlformats.org/officeDocument/2006/relationships/font" Target="fonts/InterExtraBold-boldItalic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MontserratExtra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5b949dfd2_0_269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" name="Google Shape;46;g3f5b949dfd2_0_269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6" name="Google Shape;86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9:notes"/>
          <p:cNvSpPr/>
          <p:nvPr>
            <p:ph idx="2" type="sldImg"/>
          </p:nvPr>
        </p:nvSpPr>
        <p:spPr>
          <a:xfrm>
            <a:off x="-1166813" y="0"/>
            <a:ext cx="5334001" cy="30003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5b949dfd2_0_280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f5b949dfd2_0_280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0" name="Google Shape;350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3" name="Google Shape;383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4" name="Google Shape;454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f5b949dfd2_0_183:notes"/>
          <p:cNvSpPr/>
          <p:nvPr>
            <p:ph idx="2" type="sldImg"/>
          </p:nvPr>
        </p:nvSpPr>
        <p:spPr>
          <a:xfrm>
            <a:off x="-635000" y="914400"/>
            <a:ext cx="8128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3" name="Google Shape;493;g3f5b949dfd2_0_183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3f971a3f183_0_4:notes"/>
          <p:cNvSpPr/>
          <p:nvPr>
            <p:ph idx="2" type="sldImg"/>
          </p:nvPr>
        </p:nvSpPr>
        <p:spPr>
          <a:xfrm>
            <a:off x="1143225" y="914400"/>
            <a:ext cx="45723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g3f971a3f183_0_4:notes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8"/>
          <p:cNvSpPr txBox="1"/>
          <p:nvPr/>
        </p:nvSpPr>
        <p:spPr>
          <a:xfrm>
            <a:off x="595275" y="6436350"/>
            <a:ext cx="7143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9E9E9E"/>
                </a:solidFill>
                <a:latin typeface="Arial"/>
                <a:ea typeface="Arial"/>
                <a:cs typeface="Arial"/>
                <a:sym typeface="Arial"/>
              </a:rPr>
              <a:t>Confidential | Do not distribute — Copyright ©2026 EduservIT. All rights reserved.</a:t>
            </a:r>
            <a:endParaRPr b="0" i="0" sz="1100" u="none" cap="none" strike="noStrike">
              <a:solidFill>
                <a:srgbClr val="9E9E9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"/>
          <p:cNvSpPr/>
          <p:nvPr/>
        </p:nvSpPr>
        <p:spPr>
          <a:xfrm>
            <a:off x="640075" y="2423150"/>
            <a:ext cx="8192400" cy="173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</a:pPr>
            <a:r>
              <a:rPr b="0" i="0" lang="en-US" sz="43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Access Token Management</a:t>
            </a:r>
            <a:endParaRPr b="0" i="0" sz="43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"/>
              <a:buNone/>
            </a:pPr>
            <a:r>
              <a:rPr b="0" i="0" lang="en-US" sz="4300" u="none" cap="none" strike="noStrik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 PingFederate</a:t>
            </a:r>
            <a:endParaRPr b="0" i="0" sz="4300" u="none" cap="none" strike="noStrike">
              <a:solidFill>
                <a:schemeClr val="dk1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40080" y="4533318"/>
            <a:ext cx="5866228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"/>
              <a:buNone/>
            </a:pPr>
            <a:r>
              <a:rPr b="0" i="1" lang="en-US" sz="1500" u="none" cap="none" strike="noStrike">
                <a:solidFill>
                  <a:schemeClr val="dk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Understanding how PingFederate creates, secures, and governs OAuth access tokens across the enterprise</a:t>
            </a:r>
            <a:endParaRPr b="0" i="0" sz="1500" u="none" cap="none" strike="noStrike">
              <a:solidFill>
                <a:schemeClr val="dk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cxnSp>
        <p:nvCxnSpPr>
          <p:cNvPr id="15" name="Google Shape;15;p1"/>
          <p:cNvCxnSpPr/>
          <p:nvPr/>
        </p:nvCxnSpPr>
        <p:spPr>
          <a:xfrm>
            <a:off x="658368" y="4394985"/>
            <a:ext cx="1280160" cy="0"/>
          </a:xfrm>
          <a:prstGeom prst="straightConnector1">
            <a:avLst/>
          </a:prstGeom>
          <a:noFill/>
          <a:ln cap="flat" cmpd="sng" w="31750">
            <a:solidFill>
              <a:srgbClr val="D4A64A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2669" y="1247340"/>
            <a:ext cx="4761905" cy="4761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32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Learning Objectives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1234440" y="1645920"/>
            <a:ext cx="10332720" cy="749808"/>
          </a:xfrm>
          <a:prstGeom prst="roundRect">
            <a:avLst>
              <a:gd fmla="val 97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1463040" y="1645920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Understand the purpose of Access Token Management (ATM) in PingFederate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548640" y="2624328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548640" y="262432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234440" y="2578608"/>
            <a:ext cx="10332720" cy="749808"/>
          </a:xfrm>
          <a:prstGeom prst="roundRect">
            <a:avLst>
              <a:gd fmla="val 97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1463040" y="2578608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Differentiate between JWT and Reference Tokens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48640" y="3557016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355701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234440" y="3511296"/>
            <a:ext cx="10332720" cy="749808"/>
          </a:xfrm>
          <a:prstGeom prst="roundRect">
            <a:avLst>
              <a:gd fmla="val 97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463040" y="3511296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Configure multiple Access Token Management instances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548640" y="448970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234440" y="4443984"/>
            <a:ext cx="10332720" cy="749808"/>
          </a:xfrm>
          <a:prstGeom prst="roundRect">
            <a:avLst>
              <a:gd fmla="val 97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1463040" y="4443984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Understand how PingFederate selects the appropriate Access Token Manager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5422392"/>
            <a:ext cx="457200" cy="457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5422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234440" y="5376672"/>
            <a:ext cx="10332720" cy="749808"/>
          </a:xfrm>
          <a:prstGeom prst="roundRect">
            <a:avLst>
              <a:gd fmla="val 97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463040" y="5376672"/>
            <a:ext cx="99669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Apply best practices for token management in enterprise environments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3" name="Google Shape;4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126480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Google Shape;48;g3f5b949dfd2_0_269"/>
          <p:cNvCxnSpPr/>
          <p:nvPr/>
        </p:nvCxnSpPr>
        <p:spPr>
          <a:xfrm>
            <a:off x="952500" y="2000250"/>
            <a:ext cx="1143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g3f5b949dfd2_0_269"/>
          <p:cNvSpPr txBox="1"/>
          <p:nvPr/>
        </p:nvSpPr>
        <p:spPr>
          <a:xfrm>
            <a:off x="952500" y="2286000"/>
            <a:ext cx="9525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C729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B173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Understanding Access Token Management</a:t>
            </a:r>
            <a:endParaRPr b="0" i="0" sz="4400" u="none" cap="none" strike="noStrike">
              <a:solidFill>
                <a:srgbClr val="0B173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5C6B8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5C6B85"/>
                </a:solidFill>
                <a:latin typeface="Inter"/>
                <a:ea typeface="Inter"/>
                <a:cs typeface="Inter"/>
                <a:sym typeface="Inter"/>
              </a:rPr>
              <a:t>What, why, Architecture, access, token data models</a:t>
            </a:r>
            <a:endParaRPr b="0" i="1" sz="1600" u="none" cap="none" strike="noStrike">
              <a:solidFill>
                <a:srgbClr val="5C6B8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0" name="Google Shape;50;g3f5b949dfd2_0_2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7138" y="6077312"/>
            <a:ext cx="908700" cy="9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640080" y="425163"/>
            <a:ext cx="1060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Access Token Management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640080" y="1463040"/>
            <a:ext cx="5577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Access Token Management (ATM) </a:t>
            </a: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is the PingFederate component responsible for creating, managing, securing, and validating OAuth access tokens. Every OAuth access token issued by PingFederate is generated through an Access Token Management instance.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40080" y="3246120"/>
            <a:ext cx="5577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Think of an Access Token Manager as a token factory. It defines: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640080" y="37033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914400" y="370332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What type of access token is issued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640080" y="408736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14400" y="4087368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How long the token remains valid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640080" y="44714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14400" y="4471416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Which user or client attributes are included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40080" y="485546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914400" y="4855464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How APIs validate the token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40080" y="5239512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914400" y="5239512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Which OAuth clients can use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40080" y="562356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800"/>
              <a:buFont typeface="Inter"/>
              <a:buNone/>
            </a:pPr>
            <a:r>
              <a:rPr b="0" i="0" lang="en-US" sz="8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●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914400" y="5623560"/>
            <a:ext cx="5303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Which resource servers can validate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6629400" y="1463040"/>
            <a:ext cx="4937760" cy="4572000"/>
          </a:xfrm>
          <a:prstGeom prst="roundRect">
            <a:avLst>
              <a:gd fmla="val 24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629400" y="169164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TOKEN FACTORY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8732520" y="2148840"/>
            <a:ext cx="731520" cy="731520"/>
          </a:xfrm>
          <a:prstGeom prst="ellipse">
            <a:avLst/>
          </a:prstGeom>
          <a:solidFill>
            <a:srgbClr val="CADC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732520" y="21488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40"/>
              <a:buFont typeface="Inter"/>
              <a:buNone/>
            </a:pPr>
            <a:r>
              <a:rPr b="1" i="0" lang="en-US" sz="224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⚙</a:t>
            </a:r>
            <a:endParaRPr b="0" i="0" sz="2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5" name="Google Shape;75;p3"/>
          <p:cNvCxnSpPr/>
          <p:nvPr/>
        </p:nvCxnSpPr>
        <p:spPr>
          <a:xfrm>
            <a:off x="9098280" y="2926080"/>
            <a:ext cx="0" cy="41148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3"/>
          <p:cNvSpPr/>
          <p:nvPr/>
        </p:nvSpPr>
        <p:spPr>
          <a:xfrm>
            <a:off x="7452360" y="3337560"/>
            <a:ext cx="3291840" cy="566928"/>
          </a:xfrm>
          <a:prstGeom prst="roundRect">
            <a:avLst>
              <a:gd fmla="val 12903" name="adj"/>
            </a:avLst>
          </a:prstGeom>
          <a:solidFill>
            <a:srgbClr val="141A45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452360" y="33375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Token type &amp; format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452360" y="4023360"/>
            <a:ext cx="3291840" cy="566928"/>
          </a:xfrm>
          <a:prstGeom prst="roundRect">
            <a:avLst>
              <a:gd fmla="val 12903" name="adj"/>
            </a:avLst>
          </a:prstGeom>
          <a:solidFill>
            <a:srgbClr val="141A45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452360" y="40233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Lifetime &amp; validity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452360" y="4709160"/>
            <a:ext cx="3291840" cy="566928"/>
          </a:xfrm>
          <a:prstGeom prst="roundRect">
            <a:avLst>
              <a:gd fmla="val 12903" name="adj"/>
            </a:avLst>
          </a:prstGeom>
          <a:solidFill>
            <a:srgbClr val="141A45"/>
          </a:solidFill>
          <a:ln cap="flat" cmpd="sng" w="9525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452360" y="4709160"/>
            <a:ext cx="32918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Claims &amp; attributes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812280" y="544068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CADCFC"/>
                </a:solidFill>
                <a:latin typeface="Inter"/>
                <a:ea typeface="Inter"/>
                <a:cs typeface="Inter"/>
                <a:sym typeface="Inter"/>
              </a:rPr>
              <a:t>Unlike OAuth Policies (decide IF a token is issued), the ATM decides WHAT it looks like.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126480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Need For Access Token Management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11430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Different applications often have different security requirements — a single, one-size-fits-all token configuration cannot serve them all.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2148840"/>
            <a:ext cx="2514600" cy="329184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1394460" y="2468880"/>
            <a:ext cx="822960" cy="82296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1394460" y="2468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85800" y="34747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Mobile Banking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1005840" y="4114800"/>
            <a:ext cx="1600200" cy="0"/>
          </a:xfrm>
          <a:prstGeom prst="straightConnector1">
            <a:avLst/>
          </a:prstGeom>
          <a:noFill/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/>
          <p:nvPr/>
        </p:nvSpPr>
        <p:spPr>
          <a:xfrm>
            <a:off x="685800" y="425196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JWT valid for 5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319272" y="2148840"/>
            <a:ext cx="2514600" cy="329184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4165092" y="2468880"/>
            <a:ext cx="822960" cy="82296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165092" y="2468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3456432" y="34747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Internal HR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4"/>
          <p:cNvCxnSpPr/>
          <p:nvPr/>
        </p:nvCxnSpPr>
        <p:spPr>
          <a:xfrm>
            <a:off x="3776472" y="4114800"/>
            <a:ext cx="1600200" cy="0"/>
          </a:xfrm>
          <a:prstGeom prst="straightConnector1">
            <a:avLst/>
          </a:prstGeom>
          <a:noFill/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4"/>
          <p:cNvSpPr/>
          <p:nvPr/>
        </p:nvSpPr>
        <p:spPr>
          <a:xfrm>
            <a:off x="3456432" y="425196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JWT valid for 30 minutes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089904" y="2148840"/>
            <a:ext cx="2514600" cy="329184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6935724" y="2468880"/>
            <a:ext cx="822960" cy="82296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6935724" y="2468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6227064" y="34747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Legacy Enterprise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4"/>
          <p:cNvCxnSpPr/>
          <p:nvPr/>
        </p:nvCxnSpPr>
        <p:spPr>
          <a:xfrm>
            <a:off x="6547104" y="4114800"/>
            <a:ext cx="1600200" cy="0"/>
          </a:xfrm>
          <a:prstGeom prst="straightConnector1">
            <a:avLst/>
          </a:prstGeom>
          <a:noFill/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" name="Google Shape;108;p4"/>
          <p:cNvSpPr/>
          <p:nvPr/>
        </p:nvSpPr>
        <p:spPr>
          <a:xfrm>
            <a:off x="6227064" y="425196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Reference Token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8860536" y="2148840"/>
            <a:ext cx="2514600" cy="3291840"/>
          </a:xfrm>
          <a:prstGeom prst="roundRect">
            <a:avLst>
              <a:gd fmla="val 363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9706356" y="2468880"/>
            <a:ext cx="822960" cy="82296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9706356" y="2468880"/>
            <a:ext cx="8229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8997696" y="347472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1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Partner API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9317736" y="4114800"/>
            <a:ext cx="1600200" cy="0"/>
          </a:xfrm>
          <a:prstGeom prst="straightConnector1">
            <a:avLst/>
          </a:prstGeom>
          <a:noFill/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8997696" y="4251960"/>
            <a:ext cx="2240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JWT with custom claims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548640" y="571500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Inter"/>
              <a:buNone/>
            </a:pPr>
            <a:r>
              <a:rPr b="1" i="1" lang="en-US" sz="14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PingFederate's solution: </a:t>
            </a:r>
            <a:r>
              <a:rPr b="0" i="1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administrators create multiple Access Token Management instances, each tailored to a specific use case.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Access Token Management Architecture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548640" y="1437247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The flow of a request from client to protected 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854964" y="2555630"/>
            <a:ext cx="1920240" cy="1101969"/>
          </a:xfrm>
          <a:prstGeom prst="roundRect">
            <a:avLst>
              <a:gd fmla="val 6667" name="adj"/>
            </a:avLst>
          </a:prstGeom>
          <a:solidFill>
            <a:srgbClr val="F3F6FC"/>
          </a:solidFill>
          <a:ln cap="flat" cmpd="sng" w="158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54964" y="2395728"/>
            <a:ext cx="1920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946404" y="2852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OAuth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946404" y="32461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Initiates the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8" name="Google Shape;128;p5"/>
          <p:cNvCxnSpPr/>
          <p:nvPr/>
        </p:nvCxnSpPr>
        <p:spPr>
          <a:xfrm>
            <a:off x="2775204" y="297180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" name="Google Shape;129;p5"/>
          <p:cNvSpPr/>
          <p:nvPr/>
        </p:nvSpPr>
        <p:spPr>
          <a:xfrm>
            <a:off x="2994660" y="2555630"/>
            <a:ext cx="1920240" cy="1101969"/>
          </a:xfrm>
          <a:prstGeom prst="roundRect">
            <a:avLst>
              <a:gd fmla="val 6667" name="adj"/>
            </a:avLst>
          </a:prstGeom>
          <a:solidFill>
            <a:srgbClr val="F3F6FC"/>
          </a:solidFill>
          <a:ln cap="flat" cmpd="sng" w="158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086100" y="2852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PingFederate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3086100" y="32461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Authentication &amp; OAuth Policy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4914900" y="297180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3" name="Google Shape;133;p5"/>
          <p:cNvSpPr/>
          <p:nvPr/>
        </p:nvSpPr>
        <p:spPr>
          <a:xfrm>
            <a:off x="5134356" y="2555630"/>
            <a:ext cx="1920240" cy="1101969"/>
          </a:xfrm>
          <a:prstGeom prst="roundRect">
            <a:avLst>
              <a:gd fmla="val 6667" name="adj"/>
            </a:avLst>
          </a:prstGeom>
          <a:solidFill>
            <a:srgbClr val="1E2761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225796" y="2852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Token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225796" y="32461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CADCFC"/>
                </a:solidFill>
                <a:latin typeface="Inter"/>
                <a:ea typeface="Inter"/>
                <a:cs typeface="Inter"/>
                <a:sym typeface="Inter"/>
              </a:rPr>
              <a:t>Applies token rules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" name="Google Shape;136;p5"/>
          <p:cNvCxnSpPr/>
          <p:nvPr/>
        </p:nvCxnSpPr>
        <p:spPr>
          <a:xfrm>
            <a:off x="7054596" y="297180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7" name="Google Shape;137;p5"/>
          <p:cNvSpPr/>
          <p:nvPr/>
        </p:nvSpPr>
        <p:spPr>
          <a:xfrm>
            <a:off x="7274052" y="2555630"/>
            <a:ext cx="1920240" cy="1101969"/>
          </a:xfrm>
          <a:prstGeom prst="roundRect">
            <a:avLst>
              <a:gd fmla="val 6667" name="adj"/>
            </a:avLst>
          </a:prstGeom>
          <a:solidFill>
            <a:srgbClr val="F3F6FC"/>
          </a:solidFill>
          <a:ln cap="flat" cmpd="sng" w="158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7365492" y="2852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Creates Access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7365492" y="32461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JWT or Reference Token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5"/>
          <p:cNvCxnSpPr/>
          <p:nvPr/>
        </p:nvCxnSpPr>
        <p:spPr>
          <a:xfrm>
            <a:off x="9194292" y="2971800"/>
            <a:ext cx="219456" cy="0"/>
          </a:xfrm>
          <a:prstGeom prst="straightConnector1">
            <a:avLst/>
          </a:prstGeom>
          <a:noFill/>
          <a:ln cap="flat" cmpd="sng" w="3175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41" name="Google Shape;141;p5"/>
          <p:cNvSpPr/>
          <p:nvPr/>
        </p:nvSpPr>
        <p:spPr>
          <a:xfrm>
            <a:off x="9413748" y="2555630"/>
            <a:ext cx="1920240" cy="1101969"/>
          </a:xfrm>
          <a:prstGeom prst="roundRect">
            <a:avLst>
              <a:gd fmla="val 6667" name="adj"/>
            </a:avLst>
          </a:prstGeom>
          <a:solidFill>
            <a:srgbClr val="F3F6FC"/>
          </a:solidFill>
          <a:ln cap="flat" cmpd="sng" w="158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9505188" y="2852928"/>
            <a:ext cx="1737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Protected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9505188" y="32461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950"/>
              <a:buFont typeface="Inter"/>
              <a:buNone/>
            </a:pPr>
            <a:r>
              <a:rPr b="0" i="0" lang="en-US" sz="9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Validates &amp; serves request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548640" y="420624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The Access Token Manager is invoked only after: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595446" y="4709160"/>
            <a:ext cx="10058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1. The client is authenticated (or the user is authenticated, depending on the grant type)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95446" y="5212080"/>
            <a:ext cx="10058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2. OAuth policies approve the request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95446" y="5715000"/>
            <a:ext cx="10058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3. Token mapping determines the claims to include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" name="Google Shape;14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"/>
          <p:cNvSpPr/>
          <p:nvPr/>
        </p:nvSpPr>
        <p:spPr>
          <a:xfrm>
            <a:off x="548650" y="777177"/>
            <a:ext cx="106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29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Understanding  what an Access Token Manager can control.</a:t>
            </a:r>
            <a:endParaRPr b="0" i="0" sz="2900" u="none" cap="none" strike="noStrike">
              <a:solidFill>
                <a:srgbClr val="1A1F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t/>
            </a:r>
            <a:endParaRPr b="0" i="0" sz="2900" u="none" cap="none" strike="noStrike">
              <a:solidFill>
                <a:srgbClr val="1A1F3B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548640" y="1309047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Each ATM instance can define: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548640" y="2082595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685800" y="2283763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685800" y="2283763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1143000" y="2155747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Token format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143000" y="2448355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JWT or Reference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548640" y="2923843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85800" y="3125011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5800" y="3125011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1143000" y="2996995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Token lifetime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1143000" y="3289603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How long the token remains valid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48640" y="3765091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685800" y="3966259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5800" y="3966259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143000" y="3838243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Attribute contract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143000" y="4130851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Claims included in the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48640" y="4606339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85800" y="4807507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85800" y="4807507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143000" y="4679491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Session validation behavior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1143000" y="4972099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How sessions are checked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035040" y="2082595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172200" y="2283763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172200" y="2283763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629400" y="2155747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Resource URIs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629400" y="2448355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APIs associated with the token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035040" y="2923843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172200" y="3125011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172200" y="3125011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629400" y="2996995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Client Access Control Lists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629400" y="3289603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Which OAuth clients may use it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6035040" y="3765091"/>
            <a:ext cx="5120700" cy="713100"/>
          </a:xfrm>
          <a:prstGeom prst="roundRect">
            <a:avLst>
              <a:gd fmla="val 10256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6172200" y="3966259"/>
            <a:ext cx="310800" cy="310800"/>
          </a:xfrm>
          <a:prstGeom prst="roundRect">
            <a:avLst>
              <a:gd fmla="val 5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6172200" y="3966259"/>
            <a:ext cx="3108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64A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6629400" y="3838243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Token validation rules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6629400" y="4130851"/>
            <a:ext cx="438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For resource servers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Token Data Models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48640" y="109728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PingFederate supports two primary token models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548640" y="1691640"/>
            <a:ext cx="5166360" cy="4480560"/>
          </a:xfrm>
          <a:prstGeom prst="roundRect">
            <a:avLst>
              <a:gd fmla="val 2449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82296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22960" y="2468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JSON Web Token (JWT)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822960" y="29260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CADCFC"/>
                </a:solidFill>
                <a:latin typeface="Inter"/>
                <a:ea typeface="Inter"/>
                <a:cs typeface="Inter"/>
                <a:sym typeface="Inter"/>
              </a:rPr>
              <a:t>A self-contained token that carries user identity and authorization information.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822960" y="37033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1143000" y="37033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Self-contained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22960" y="408736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1143000" y="40873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Digitally signed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822960" y="44714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1143000" y="4471416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 validates locally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822960" y="485546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1143000" y="4855464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No callback to PingFederate required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822960" y="5239512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1143000" y="5239512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Excellent for cloud and microservices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080760" y="1691640"/>
            <a:ext cx="5166360" cy="4480560"/>
          </a:xfrm>
          <a:prstGeom prst="roundRect">
            <a:avLst>
              <a:gd fmla="val 2449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6355080" y="1920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Inter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6355080" y="2468880"/>
            <a:ext cx="4617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800"/>
              <a:buFont typeface="Inter"/>
              <a:buNone/>
            </a:pPr>
            <a:r>
              <a:rPr b="1" i="0" lang="en-US" sz="18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Reference Token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6355080" y="2926080"/>
            <a:ext cx="4617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Contains only a unique identifier; user data stays in PingFederate.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6355080" y="3703320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6675120" y="370332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Stores no user information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6355080" y="4087368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6675120" y="4087368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Requires introspection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6355080" y="4471416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6675120" y="4471416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Easier revocation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6355080" y="4855464"/>
            <a:ext cx="274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6675120" y="4855464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Better for highly sensitive environments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JWT: Local, Stateless Validation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48640" y="1417320"/>
            <a:ext cx="4937760" cy="4480560"/>
          </a:xfrm>
          <a:prstGeom prst="roundRect">
            <a:avLst>
              <a:gd fmla="val 2041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548640" y="1600200"/>
            <a:ext cx="4937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REQUEST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1371600" y="2057400"/>
            <a:ext cx="329184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1371600" y="205740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OAuth 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8"/>
          <p:cNvCxnSpPr/>
          <p:nvPr/>
        </p:nvCxnSpPr>
        <p:spPr>
          <a:xfrm>
            <a:off x="3017520" y="2679192"/>
            <a:ext cx="0" cy="292608"/>
          </a:xfrm>
          <a:prstGeom prst="straightConnector1">
            <a:avLst/>
          </a:prstGeom>
          <a:noFill/>
          <a:ln cap="flat" cmpd="sng" w="28575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37" name="Google Shape;237;p8"/>
          <p:cNvSpPr/>
          <p:nvPr/>
        </p:nvSpPr>
        <p:spPr>
          <a:xfrm>
            <a:off x="1371600" y="2971800"/>
            <a:ext cx="329184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1371600" y="297180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8"/>
          <p:cNvCxnSpPr/>
          <p:nvPr/>
        </p:nvCxnSpPr>
        <p:spPr>
          <a:xfrm>
            <a:off x="3017520" y="3593592"/>
            <a:ext cx="0" cy="292608"/>
          </a:xfrm>
          <a:prstGeom prst="straightConnector1">
            <a:avLst/>
          </a:prstGeom>
          <a:noFill/>
          <a:ln cap="flat" cmpd="sng" w="28575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0" name="Google Shape;240;p8"/>
          <p:cNvSpPr/>
          <p:nvPr/>
        </p:nvSpPr>
        <p:spPr>
          <a:xfrm>
            <a:off x="1371600" y="3886200"/>
            <a:ext cx="3291840" cy="621792"/>
          </a:xfrm>
          <a:prstGeom prst="roundRect">
            <a:avLst>
              <a:gd fmla="val 11765" name="adj"/>
            </a:avLst>
          </a:prstGeom>
          <a:solidFill>
            <a:srgbClr val="FFFFFF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1371600" y="388620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Resource Server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8"/>
          <p:cNvCxnSpPr/>
          <p:nvPr/>
        </p:nvCxnSpPr>
        <p:spPr>
          <a:xfrm>
            <a:off x="3017520" y="4507992"/>
            <a:ext cx="0" cy="292608"/>
          </a:xfrm>
          <a:prstGeom prst="straightConnector1">
            <a:avLst/>
          </a:prstGeom>
          <a:noFill/>
          <a:ln cap="flat" cmpd="sng" w="28575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43" name="Google Shape;243;p8"/>
          <p:cNvSpPr/>
          <p:nvPr/>
        </p:nvSpPr>
        <p:spPr>
          <a:xfrm>
            <a:off x="1371600" y="4800600"/>
            <a:ext cx="3291840" cy="621792"/>
          </a:xfrm>
          <a:prstGeom prst="roundRect">
            <a:avLst>
              <a:gd fmla="val 11765" name="adj"/>
            </a:avLst>
          </a:prstGeom>
          <a:solidFill>
            <a:srgbClr val="1E2761"/>
          </a:solidFill>
          <a:ln cap="flat" cmpd="sng" w="15875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1371600" y="4800600"/>
            <a:ext cx="3291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Local Validation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5806440" y="1417320"/>
            <a:ext cx="5852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Advantages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5806440" y="1965960"/>
            <a:ext cx="5852100" cy="8961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720840" y="207568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High performance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720840" y="242316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No round trip to the identity provider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5806440" y="3008376"/>
            <a:ext cx="585216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6720840" y="3118104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Stateless validation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6720840" y="346557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APIs verify the signature locally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5806440" y="4050792"/>
            <a:ext cx="585216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6720840" y="416052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Scales well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720840" y="4507992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Ideal for distributed, cloud-native systems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5806440" y="5093208"/>
            <a:ext cx="5852160" cy="896112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720840" y="5202936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Easy API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720840" y="55504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Standard libraries validate JWTs natively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"/>
          <p:cNvSpPr/>
          <p:nvPr/>
        </p:nvSpPr>
        <p:spPr>
          <a:xfrm>
            <a:off x="548640" y="457200"/>
            <a:ext cx="1060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Reference Token: Centralized Control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48640" y="1417320"/>
            <a:ext cx="4937700" cy="4709100"/>
          </a:xfrm>
          <a:prstGeom prst="roundRect">
            <a:avLst>
              <a:gd fmla="val 1942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8640" y="1600200"/>
            <a:ext cx="4937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Inter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Inter"/>
                <a:ea typeface="Inter"/>
                <a:cs typeface="Inter"/>
                <a:sym typeface="Inter"/>
              </a:rPr>
              <a:t>REQUEST FLOW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1280160" y="2011680"/>
            <a:ext cx="3474600" cy="548700"/>
          </a:xfrm>
          <a:prstGeom prst="roundRect">
            <a:avLst>
              <a:gd fmla="val 13333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1280160" y="2011680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OAuth Client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9" name="Google Shape;269;p9"/>
          <p:cNvCxnSpPr/>
          <p:nvPr/>
        </p:nvCxnSpPr>
        <p:spPr>
          <a:xfrm>
            <a:off x="3017520" y="2560320"/>
            <a:ext cx="0" cy="23760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0" name="Google Shape;270;p9"/>
          <p:cNvSpPr/>
          <p:nvPr/>
        </p:nvSpPr>
        <p:spPr>
          <a:xfrm>
            <a:off x="1280160" y="2798064"/>
            <a:ext cx="3474600" cy="548700"/>
          </a:xfrm>
          <a:prstGeom prst="roundRect">
            <a:avLst>
              <a:gd fmla="val 13333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1280160" y="2798064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Reference Token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2" name="Google Shape;272;p9"/>
          <p:cNvCxnSpPr/>
          <p:nvPr/>
        </p:nvCxnSpPr>
        <p:spPr>
          <a:xfrm>
            <a:off x="3017520" y="3346704"/>
            <a:ext cx="0" cy="23760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3" name="Google Shape;273;p9"/>
          <p:cNvSpPr/>
          <p:nvPr/>
        </p:nvSpPr>
        <p:spPr>
          <a:xfrm>
            <a:off x="1280160" y="3584448"/>
            <a:ext cx="3474600" cy="548700"/>
          </a:xfrm>
          <a:prstGeom prst="roundRect">
            <a:avLst>
              <a:gd fmla="val 13333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280160" y="3584448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5" name="Google Shape;275;p9"/>
          <p:cNvCxnSpPr/>
          <p:nvPr/>
        </p:nvCxnSpPr>
        <p:spPr>
          <a:xfrm>
            <a:off x="3017520" y="4133088"/>
            <a:ext cx="0" cy="23760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6" name="Google Shape;276;p9"/>
          <p:cNvSpPr/>
          <p:nvPr/>
        </p:nvSpPr>
        <p:spPr>
          <a:xfrm>
            <a:off x="1280160" y="4370832"/>
            <a:ext cx="3474600" cy="548700"/>
          </a:xfrm>
          <a:prstGeom prst="roundRect">
            <a:avLst>
              <a:gd fmla="val 13333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1280160" y="4370832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PingFederate Introspection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8" name="Google Shape;278;p9"/>
          <p:cNvCxnSpPr/>
          <p:nvPr/>
        </p:nvCxnSpPr>
        <p:spPr>
          <a:xfrm>
            <a:off x="3017520" y="4919472"/>
            <a:ext cx="0" cy="237600"/>
          </a:xfrm>
          <a:prstGeom prst="straightConnector1">
            <a:avLst/>
          </a:prstGeom>
          <a:noFill/>
          <a:ln cap="flat" cmpd="sng" w="25400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79" name="Google Shape;279;p9"/>
          <p:cNvSpPr/>
          <p:nvPr/>
        </p:nvSpPr>
        <p:spPr>
          <a:xfrm>
            <a:off x="1280160" y="5157216"/>
            <a:ext cx="3474600" cy="548700"/>
          </a:xfrm>
          <a:prstGeom prst="roundRect">
            <a:avLst>
              <a:gd fmla="val 13333" name="adj"/>
            </a:avLst>
          </a:prstGeom>
          <a:solidFill>
            <a:srgbClr val="D4A64A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280160" y="5157216"/>
            <a:ext cx="3474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rPr>
              <a:t>User Attributes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5806440" y="1417320"/>
            <a:ext cx="5852100" cy="411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Advantages</a:t>
            </a:r>
            <a:endParaRPr b="1" i="0" sz="1700" u="none" cap="none" strike="noStrike">
              <a:solidFill>
                <a:srgbClr val="1E276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82" name="Google Shape;282;p9"/>
          <p:cNvGrpSpPr/>
          <p:nvPr/>
        </p:nvGrpSpPr>
        <p:grpSpPr>
          <a:xfrm>
            <a:off x="5806440" y="1965960"/>
            <a:ext cx="5852100" cy="896100"/>
            <a:chOff x="0" y="0"/>
            <a:chExt cx="5852100" cy="896100"/>
          </a:xfrm>
        </p:grpSpPr>
        <p:sp>
          <p:nvSpPr>
            <p:cNvPr id="283" name="Google Shape;283;p9"/>
            <p:cNvSpPr/>
            <p:nvPr/>
          </p:nvSpPr>
          <p:spPr>
            <a:xfrm>
              <a:off x="0" y="0"/>
              <a:ext cx="5852100" cy="896100"/>
            </a:xfrm>
            <a:prstGeom prst="roundRect">
              <a:avLst>
                <a:gd fmla="val 8163" name="adj"/>
              </a:avLst>
            </a:prstGeom>
            <a:solidFill>
              <a:srgbClr val="FFFFFF"/>
            </a:solidFill>
            <a:ln cap="flat" cmpd="sng" w="12675">
              <a:solidFill>
                <a:srgbClr val="D9E1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9"/>
            <p:cNvSpPr txBox="1"/>
            <p:nvPr/>
          </p:nvSpPr>
          <p:spPr>
            <a:xfrm>
              <a:off x="762000" y="142875"/>
              <a:ext cx="4896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F3B"/>
                  </a:solidFill>
                  <a:latin typeface="Inter"/>
                  <a:ea typeface="Inter"/>
                  <a:cs typeface="Inter"/>
                  <a:sym typeface="Inter"/>
                </a:rPr>
                <a:t>Smaller token size</a:t>
              </a:r>
              <a:endParaRPr b="1" i="0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5B6584"/>
                  </a:solidFill>
                  <a:latin typeface="Inter"/>
                  <a:ea typeface="Inter"/>
                  <a:cs typeface="Inter"/>
                  <a:sym typeface="Inter"/>
                </a:rPr>
                <a:t>Minimizes network overhead and client-side storage</a:t>
              </a:r>
              <a:endParaRPr b="0" i="0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5" name="Google Shape;285;p9"/>
          <p:cNvGrpSpPr/>
          <p:nvPr/>
        </p:nvGrpSpPr>
        <p:grpSpPr>
          <a:xfrm>
            <a:off x="5806440" y="4050792"/>
            <a:ext cx="5852100" cy="896100"/>
            <a:chOff x="0" y="0"/>
            <a:chExt cx="5852100" cy="896100"/>
          </a:xfrm>
        </p:grpSpPr>
        <p:sp>
          <p:nvSpPr>
            <p:cNvPr id="286" name="Google Shape;286;p9"/>
            <p:cNvSpPr/>
            <p:nvPr/>
          </p:nvSpPr>
          <p:spPr>
            <a:xfrm>
              <a:off x="0" y="0"/>
              <a:ext cx="5852100" cy="896100"/>
            </a:xfrm>
            <a:prstGeom prst="roundRect">
              <a:avLst>
                <a:gd fmla="val 8163" name="adj"/>
              </a:avLst>
            </a:prstGeom>
            <a:solidFill>
              <a:srgbClr val="FFFFFF"/>
            </a:solidFill>
            <a:ln cap="flat" cmpd="sng" w="12675">
              <a:solidFill>
                <a:srgbClr val="D9E1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 txBox="1"/>
            <p:nvPr/>
          </p:nvSpPr>
          <p:spPr>
            <a:xfrm>
              <a:off x="190500" y="183769"/>
              <a:ext cx="476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D4A64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88" name="Google Shape;288;p9"/>
            <p:cNvSpPr txBox="1"/>
            <p:nvPr/>
          </p:nvSpPr>
          <p:spPr>
            <a:xfrm>
              <a:off x="762000" y="142875"/>
              <a:ext cx="4896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F3B"/>
                  </a:solidFill>
                  <a:latin typeface="Inter"/>
                  <a:ea typeface="Inter"/>
                  <a:cs typeface="Inter"/>
                  <a:sym typeface="Inter"/>
                </a:rPr>
                <a:t>Immediate revocation support</a:t>
              </a:r>
              <a:endParaRPr b="1" i="0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5B6584"/>
                  </a:solidFill>
                  <a:latin typeface="Inter"/>
                  <a:ea typeface="Inter"/>
                  <a:cs typeface="Inter"/>
                  <a:sym typeface="Inter"/>
                </a:rPr>
                <a:t>Allows instant token invalidation across all services</a:t>
              </a:r>
              <a:endParaRPr b="0" i="0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89" name="Google Shape;289;p9"/>
          <p:cNvGrpSpPr/>
          <p:nvPr/>
        </p:nvGrpSpPr>
        <p:grpSpPr>
          <a:xfrm>
            <a:off x="5806440" y="5093208"/>
            <a:ext cx="5852100" cy="896100"/>
            <a:chOff x="0" y="0"/>
            <a:chExt cx="5852100" cy="896100"/>
          </a:xfrm>
        </p:grpSpPr>
        <p:sp>
          <p:nvSpPr>
            <p:cNvPr id="290" name="Google Shape;290;p9"/>
            <p:cNvSpPr/>
            <p:nvPr/>
          </p:nvSpPr>
          <p:spPr>
            <a:xfrm>
              <a:off x="0" y="0"/>
              <a:ext cx="5852100" cy="896100"/>
            </a:xfrm>
            <a:prstGeom prst="roundRect">
              <a:avLst>
                <a:gd fmla="val 8163" name="adj"/>
              </a:avLst>
            </a:prstGeom>
            <a:solidFill>
              <a:srgbClr val="FFFFFF"/>
            </a:solidFill>
            <a:ln cap="flat" cmpd="sng" w="12675">
              <a:solidFill>
                <a:srgbClr val="D9E1F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"/>
            <p:cNvSpPr txBox="1"/>
            <p:nvPr/>
          </p:nvSpPr>
          <p:spPr>
            <a:xfrm>
              <a:off x="190500" y="183769"/>
              <a:ext cx="4764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t/>
              </a:r>
              <a:endParaRPr b="0" i="0" sz="2800" u="none" cap="none" strike="noStrike">
                <a:solidFill>
                  <a:srgbClr val="D4A64A"/>
                </a:solidFill>
                <a:latin typeface="Mate"/>
                <a:ea typeface="Mate"/>
                <a:cs typeface="Mate"/>
                <a:sym typeface="Mate"/>
              </a:endParaRPr>
            </a:p>
          </p:txBody>
        </p:sp>
        <p:sp>
          <p:nvSpPr>
            <p:cNvPr id="292" name="Google Shape;292;p9"/>
            <p:cNvSpPr txBox="1"/>
            <p:nvPr/>
          </p:nvSpPr>
          <p:spPr>
            <a:xfrm>
              <a:off x="762000" y="142875"/>
              <a:ext cx="4896000" cy="6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i="0" lang="en-US" sz="1400" u="none" cap="none" strike="noStrike">
                  <a:solidFill>
                    <a:srgbClr val="1A1F3B"/>
                  </a:solidFill>
                  <a:latin typeface="Inter"/>
                  <a:ea typeface="Inter"/>
                  <a:cs typeface="Inter"/>
                  <a:sym typeface="Inter"/>
                </a:rPr>
                <a:t>Better control over active sessions</a:t>
              </a:r>
              <a:endParaRPr b="1" i="0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0" i="0" lang="en-US" sz="1150" u="none" cap="none" strike="noStrike">
                  <a:solidFill>
                    <a:srgbClr val="5B6584"/>
                  </a:solidFill>
                  <a:latin typeface="Inter"/>
                  <a:ea typeface="Inter"/>
                  <a:cs typeface="Inter"/>
                  <a:sym typeface="Inter"/>
                </a:rPr>
                <a:t>Enables precise real-time session monitoring and management</a:t>
              </a:r>
              <a:endParaRPr b="0" i="0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293" name="Google Shape;29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9"/>
          <p:cNvSpPr/>
          <p:nvPr/>
        </p:nvSpPr>
        <p:spPr>
          <a:xfrm>
            <a:off x="5812232" y="3003136"/>
            <a:ext cx="5852100" cy="896100"/>
          </a:xfrm>
          <a:prstGeom prst="roundRect">
            <a:avLst>
              <a:gd fmla="val 8163" name="adj"/>
            </a:avLst>
          </a:prstGeom>
          <a:solidFill>
            <a:srgbClr val="FFFFFF"/>
          </a:solidFill>
          <a:ln cap="flat" cmpd="sng" w="126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 txBox="1"/>
          <p:nvPr/>
        </p:nvSpPr>
        <p:spPr>
          <a:xfrm>
            <a:off x="6568440" y="3151251"/>
            <a:ext cx="4896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Centralized validation</a:t>
            </a:r>
            <a:endParaRPr b="1" i="0" sz="1400" u="none" cap="none" strike="noStrike">
              <a:solidFill>
                <a:srgbClr val="1A1F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Ensures all token validation logic is handled in one place</a:t>
            </a:r>
            <a:endParaRPr b="0" i="0" sz="1150" u="none" cap="none" strike="noStrike">
              <a:solidFill>
                <a:srgbClr val="5B6584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0" name="Google Shape;300;g3f5b949dfd2_0_280"/>
          <p:cNvCxnSpPr/>
          <p:nvPr/>
        </p:nvCxnSpPr>
        <p:spPr>
          <a:xfrm>
            <a:off x="952500" y="2000250"/>
            <a:ext cx="1143000" cy="0"/>
          </a:xfrm>
          <a:prstGeom prst="straightConnector1">
            <a:avLst/>
          </a:prstGeom>
          <a:solidFill>
            <a:srgbClr val="FFFFFF"/>
          </a:solidFill>
          <a:ln cap="flat" cmpd="sng" w="381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1" name="Google Shape;301;g3f5b949dfd2_0_280"/>
          <p:cNvSpPr txBox="1"/>
          <p:nvPr/>
        </p:nvSpPr>
        <p:spPr>
          <a:xfrm>
            <a:off x="952500" y="2286000"/>
            <a:ext cx="9525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1C7293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125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B173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Configuring &amp; Managing Access Token Managers</a:t>
            </a:r>
            <a:endParaRPr b="0" i="0" sz="4400" u="none" cap="none" strike="noStrike">
              <a:solidFill>
                <a:srgbClr val="0B1730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1" sz="1600" u="none" cap="none" strike="noStrike">
              <a:solidFill>
                <a:srgbClr val="5C6B85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1" lang="en-US" sz="1600" u="none" cap="none" strike="noStrike">
                <a:solidFill>
                  <a:srgbClr val="5C6B85"/>
                </a:solidFill>
                <a:latin typeface="Inter"/>
                <a:ea typeface="Inter"/>
                <a:cs typeface="Inter"/>
                <a:sym typeface="Inter"/>
              </a:rPr>
              <a:t>Multiple instances, selection, Access control list, Resource URI Association</a:t>
            </a:r>
            <a:endParaRPr b="0" i="1" sz="1600" u="none" cap="none" strike="noStrike">
              <a:solidFill>
                <a:srgbClr val="5C6B85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2" name="Google Shape;302;g3f5b949dfd2_0_2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87138" y="6077312"/>
            <a:ext cx="908700" cy="90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/>
          <p:nvPr/>
        </p:nvSpPr>
        <p:spPr>
          <a:xfrm>
            <a:off x="640080" y="919613"/>
            <a:ext cx="10607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D4A64A"/>
                </a:solidFill>
                <a:latin typeface="Inter"/>
                <a:ea typeface="Inter"/>
                <a:cs typeface="Inter"/>
                <a:sym typeface="Inter"/>
              </a:rPr>
              <a:t>Configuring and Managing Access Token Managers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640080" y="148237"/>
            <a:ext cx="1060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7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Multiple Access Token Management Instances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640080" y="13258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Each OAuth client or API can use the ATM that best fits its security requirements.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0"/>
          <p:cNvSpPr/>
          <p:nvPr/>
        </p:nvSpPr>
        <p:spPr>
          <a:xfrm>
            <a:off x="790956" y="1965960"/>
            <a:ext cx="3291840" cy="4114800"/>
          </a:xfrm>
          <a:prstGeom prst="roundRect">
            <a:avLst>
              <a:gd fmla="val 2778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790956" y="1965960"/>
            <a:ext cx="3291840" cy="822960"/>
          </a:xfrm>
          <a:prstGeom prst="roundRect">
            <a:avLst>
              <a:gd fmla="val 1111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790956" y="2423160"/>
            <a:ext cx="32918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790956" y="19659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Employee ATM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2071116" y="3063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2071116" y="30632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40"/>
              <a:buFont typeface="Inter"/>
              <a:buNone/>
            </a:pPr>
            <a:r>
              <a:rPr b="1" i="0" lang="en-US" sz="224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📄</a:t>
            </a:r>
            <a:endParaRPr b="0" i="0" sz="2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7" name="Google Shape;317;p10"/>
          <p:cNvCxnSpPr/>
          <p:nvPr/>
        </p:nvCxnSpPr>
        <p:spPr>
          <a:xfrm>
            <a:off x="2436876" y="379476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18" name="Google Shape;318;p10"/>
          <p:cNvSpPr/>
          <p:nvPr/>
        </p:nvSpPr>
        <p:spPr>
          <a:xfrm>
            <a:off x="1065276" y="420624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1065276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0" name="Google Shape;320;p10"/>
          <p:cNvCxnSpPr/>
          <p:nvPr/>
        </p:nvCxnSpPr>
        <p:spPr>
          <a:xfrm>
            <a:off x="2436876" y="48463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1E276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21" name="Google Shape;321;p10"/>
          <p:cNvSpPr/>
          <p:nvPr/>
        </p:nvSpPr>
        <p:spPr>
          <a:xfrm>
            <a:off x="1065276" y="516636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0"/>
          <p:cNvSpPr/>
          <p:nvPr/>
        </p:nvSpPr>
        <p:spPr>
          <a:xfrm>
            <a:off x="1065276" y="51663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0"/>
          <p:cNvSpPr/>
          <p:nvPr/>
        </p:nvSpPr>
        <p:spPr>
          <a:xfrm>
            <a:off x="4448556" y="1965960"/>
            <a:ext cx="3291840" cy="4114800"/>
          </a:xfrm>
          <a:prstGeom prst="roundRect">
            <a:avLst>
              <a:gd fmla="val 2778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4448556" y="1965960"/>
            <a:ext cx="3291840" cy="822960"/>
          </a:xfrm>
          <a:prstGeom prst="roundRect">
            <a:avLst>
              <a:gd fmla="val 11111" name="adj"/>
            </a:avLst>
          </a:prstGeom>
          <a:solidFill>
            <a:srgbClr val="3D4A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448556" y="2423160"/>
            <a:ext cx="3291840" cy="365760"/>
          </a:xfrm>
          <a:prstGeom prst="rect">
            <a:avLst/>
          </a:prstGeom>
          <a:solidFill>
            <a:srgbClr val="3D4A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448556" y="19659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Partner ATM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"/>
          <p:cNvSpPr/>
          <p:nvPr/>
        </p:nvSpPr>
        <p:spPr>
          <a:xfrm>
            <a:off x="5728716" y="3063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0"/>
          <p:cNvSpPr/>
          <p:nvPr/>
        </p:nvSpPr>
        <p:spPr>
          <a:xfrm>
            <a:off x="5728716" y="30632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40"/>
              <a:buFont typeface="Inter"/>
              <a:buNone/>
            </a:pPr>
            <a:r>
              <a:rPr b="1" i="0" lang="en-US" sz="224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📄</a:t>
            </a:r>
            <a:endParaRPr b="0" i="0" sz="2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10"/>
          <p:cNvCxnSpPr/>
          <p:nvPr/>
        </p:nvCxnSpPr>
        <p:spPr>
          <a:xfrm>
            <a:off x="6094476" y="379476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3D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10"/>
          <p:cNvSpPr/>
          <p:nvPr/>
        </p:nvSpPr>
        <p:spPr>
          <a:xfrm>
            <a:off x="4722876" y="420624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4722876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Reference Token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2" name="Google Shape;332;p10"/>
          <p:cNvCxnSpPr/>
          <p:nvPr/>
        </p:nvCxnSpPr>
        <p:spPr>
          <a:xfrm>
            <a:off x="6094476" y="48463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3D4A9E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3" name="Google Shape;333;p10"/>
          <p:cNvSpPr/>
          <p:nvPr/>
        </p:nvSpPr>
        <p:spPr>
          <a:xfrm>
            <a:off x="4722876" y="516636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3D4A9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4722876" y="51663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10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8106156" y="1965960"/>
            <a:ext cx="3291840" cy="4114800"/>
          </a:xfrm>
          <a:prstGeom prst="roundRect">
            <a:avLst>
              <a:gd fmla="val 2778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8106156" y="1965960"/>
            <a:ext cx="3291840" cy="822960"/>
          </a:xfrm>
          <a:prstGeom prst="roundRect">
            <a:avLst>
              <a:gd fmla="val 11111" name="adj"/>
            </a:avLst>
          </a:prstGeom>
          <a:solidFill>
            <a:srgbClr val="D4A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8106156" y="2423160"/>
            <a:ext cx="3291840" cy="365760"/>
          </a:xfrm>
          <a:prstGeom prst="rect">
            <a:avLst/>
          </a:prstGeom>
          <a:solidFill>
            <a:srgbClr val="D4A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8106156" y="196596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600"/>
              <a:buFont typeface="Inter"/>
              <a:buNone/>
            </a:pPr>
            <a:r>
              <a:rPr b="1" i="0" lang="en-US" sz="160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rPr>
              <a:t>Mobile ATM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9386316" y="306324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9386316" y="3063240"/>
            <a:ext cx="731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40"/>
              <a:buFont typeface="Inter"/>
              <a:buNone/>
            </a:pPr>
            <a:r>
              <a:rPr b="1" i="0" lang="en-US" sz="224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📄</a:t>
            </a:r>
            <a:endParaRPr b="0" i="0" sz="2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1" name="Google Shape;341;p10"/>
          <p:cNvCxnSpPr/>
          <p:nvPr/>
        </p:nvCxnSpPr>
        <p:spPr>
          <a:xfrm>
            <a:off x="9752076" y="3794760"/>
            <a:ext cx="0" cy="320040"/>
          </a:xfrm>
          <a:prstGeom prst="straightConnector1">
            <a:avLst/>
          </a:prstGeom>
          <a:noFill/>
          <a:ln cap="flat" cmpd="sng" w="2540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2" name="Google Shape;342;p10"/>
          <p:cNvSpPr/>
          <p:nvPr/>
        </p:nvSpPr>
        <p:spPr>
          <a:xfrm>
            <a:off x="8380476" y="420624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FFFFFF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8380476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JWT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4" name="Google Shape;344;p10"/>
          <p:cNvCxnSpPr/>
          <p:nvPr/>
        </p:nvCxnSpPr>
        <p:spPr>
          <a:xfrm>
            <a:off x="9752076" y="4846320"/>
            <a:ext cx="0" cy="274320"/>
          </a:xfrm>
          <a:prstGeom prst="straightConnector1">
            <a:avLst/>
          </a:prstGeom>
          <a:noFill/>
          <a:ln cap="flat" cmpd="sng" w="2540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45" name="Google Shape;345;p10"/>
          <p:cNvSpPr/>
          <p:nvPr/>
        </p:nvSpPr>
        <p:spPr>
          <a:xfrm>
            <a:off x="8380476" y="5166360"/>
            <a:ext cx="2743200" cy="640080"/>
          </a:xfrm>
          <a:prstGeom prst="roundRect">
            <a:avLst>
              <a:gd fmla="val 8571" name="adj"/>
            </a:avLst>
          </a:prstGeom>
          <a:solidFill>
            <a:srgbClr val="D4A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8380476" y="51663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400"/>
              <a:buFont typeface="Inter"/>
              <a:buNone/>
            </a:pPr>
            <a:r>
              <a:rPr b="1" i="0" lang="en-US" sz="140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rPr>
              <a:t>5 Minutes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1"/>
          <p:cNvSpPr/>
          <p:nvPr/>
        </p:nvSpPr>
        <p:spPr>
          <a:xfrm>
            <a:off x="548640" y="45720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500"/>
              <a:buFont typeface="Inter"/>
              <a:buNone/>
            </a:pPr>
            <a:r>
              <a:rPr b="0" i="0" lang="en-US" sz="29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Selecting an Access Token Manager</a:t>
            </a:r>
            <a:endParaRPr b="0" i="0" sz="29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PingFederate checks the following criteria in priority order: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548640" y="1737360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685800" y="1810512"/>
            <a:ext cx="402336" cy="402336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685800" y="18105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1280160" y="173736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access_token_manager_id parameter (highest priority)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548640" y="2395728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85800" y="2468880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685800" y="24688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1280160" y="2395728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aud (Audience) parameter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548640" y="3054096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685800" y="3127248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/>
          <p:nvPr/>
        </p:nvSpPr>
        <p:spPr>
          <a:xfrm>
            <a:off x="685800" y="312724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1"/>
          <p:cNvSpPr/>
          <p:nvPr/>
        </p:nvSpPr>
        <p:spPr>
          <a:xfrm>
            <a:off x="1280160" y="3054096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resource parameter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1"/>
          <p:cNvSpPr/>
          <p:nvPr/>
        </p:nvSpPr>
        <p:spPr>
          <a:xfrm>
            <a:off x="548640" y="3712464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685800" y="3785616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/>
          <p:nvPr/>
        </p:nvSpPr>
        <p:spPr>
          <a:xfrm>
            <a:off x="685800" y="378561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1"/>
          <p:cNvSpPr/>
          <p:nvPr/>
        </p:nvSpPr>
        <p:spPr>
          <a:xfrm>
            <a:off x="1280160" y="3712464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OpenID Connect policy (for OIDC requests with the openid scope)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1"/>
          <p:cNvSpPr/>
          <p:nvPr/>
        </p:nvSpPr>
        <p:spPr>
          <a:xfrm>
            <a:off x="548640" y="4370832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1"/>
          <p:cNvSpPr/>
          <p:nvPr/>
        </p:nvSpPr>
        <p:spPr>
          <a:xfrm>
            <a:off x="685800" y="4443984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685800" y="444398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1280160" y="4370832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Default Access Token Manager configured for the OAuth client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548640" y="5029200"/>
            <a:ext cx="10607040" cy="548640"/>
          </a:xfrm>
          <a:prstGeom prst="roundRect">
            <a:avLst>
              <a:gd fmla="val 13333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685800" y="5102352"/>
            <a:ext cx="402336" cy="402336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85800" y="51023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32"/>
              <a:buFont typeface="Inter"/>
              <a:buNone/>
            </a:pPr>
            <a:r>
              <a:rPr b="1" i="0" lang="en-US" sz="1232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 b="0" i="0" sz="123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1"/>
          <p:cNvSpPr/>
          <p:nvPr/>
        </p:nvSpPr>
        <p:spPr>
          <a:xfrm>
            <a:off x="1280160" y="5029200"/>
            <a:ext cx="9692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System default Access Token Manager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548640" y="5779008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If none of these identify an eligible ATM instance, </a:t>
            </a:r>
            <a:r>
              <a:rPr b="1" i="1" lang="en-US" sz="135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PingFederate rejects the request.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0" name="Google Shape;38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2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Access Control Lists (ACLs)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An ATM can restrict which OAuth clients are allowed to use it.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2"/>
          <p:cNvSpPr/>
          <p:nvPr/>
        </p:nvSpPr>
        <p:spPr>
          <a:xfrm>
            <a:off x="2194560" y="1737360"/>
            <a:ext cx="7772400" cy="777240"/>
          </a:xfrm>
          <a:prstGeom prst="roundRect">
            <a:avLst>
              <a:gd fmla="val 11765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2"/>
          <p:cNvSpPr/>
          <p:nvPr/>
        </p:nvSpPr>
        <p:spPr>
          <a:xfrm>
            <a:off x="2194560" y="1737360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Inter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Employee ATM — Allowed Clients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2"/>
          <p:cNvSpPr/>
          <p:nvPr/>
        </p:nvSpPr>
        <p:spPr>
          <a:xfrm>
            <a:off x="2253996" y="2788920"/>
            <a:ext cx="2468880" cy="1600200"/>
          </a:xfrm>
          <a:prstGeom prst="roundRect">
            <a:avLst>
              <a:gd fmla="val 5714" name="adj"/>
            </a:avLst>
          </a:prstGeom>
          <a:solidFill>
            <a:srgbClr val="EAF3EC"/>
          </a:solidFill>
          <a:ln cap="flat" cmpd="sng" w="15875">
            <a:solidFill>
              <a:srgbClr val="8FC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2"/>
          <p:cNvSpPr/>
          <p:nvPr/>
        </p:nvSpPr>
        <p:spPr>
          <a:xfrm>
            <a:off x="3168396" y="2971800"/>
            <a:ext cx="640080" cy="640080"/>
          </a:xfrm>
          <a:prstGeom prst="ellipse">
            <a:avLst/>
          </a:prstGeom>
          <a:solidFill>
            <a:srgbClr val="3F8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3168396" y="2971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Font typeface="Inter"/>
              <a:buNone/>
            </a:pPr>
            <a:r>
              <a:rPr b="1" i="0" lang="en-US" sz="19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2391156" y="37033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HR Portal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4860036" y="2788920"/>
            <a:ext cx="2468880" cy="1600200"/>
          </a:xfrm>
          <a:prstGeom prst="roundRect">
            <a:avLst>
              <a:gd fmla="val 5714" name="adj"/>
            </a:avLst>
          </a:prstGeom>
          <a:solidFill>
            <a:srgbClr val="EAF3EC"/>
          </a:solidFill>
          <a:ln cap="flat" cmpd="sng" w="15875">
            <a:solidFill>
              <a:srgbClr val="8FC7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2"/>
          <p:cNvSpPr/>
          <p:nvPr/>
        </p:nvSpPr>
        <p:spPr>
          <a:xfrm>
            <a:off x="5774436" y="2971800"/>
            <a:ext cx="640080" cy="640080"/>
          </a:xfrm>
          <a:prstGeom prst="ellipse">
            <a:avLst/>
          </a:prstGeom>
          <a:solidFill>
            <a:srgbClr val="3F8F5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5774436" y="2971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Font typeface="Inter"/>
              <a:buNone/>
            </a:pPr>
            <a:r>
              <a:rPr b="1" i="0" lang="en-US" sz="19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✓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4997196" y="37033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Employee Mobile App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7466076" y="2788920"/>
            <a:ext cx="2468880" cy="1600200"/>
          </a:xfrm>
          <a:prstGeom prst="roundRect">
            <a:avLst>
              <a:gd fmla="val 5714" name="adj"/>
            </a:avLst>
          </a:prstGeom>
          <a:solidFill>
            <a:srgbClr val="FBEAEA"/>
          </a:solidFill>
          <a:ln cap="flat" cmpd="sng" w="15875">
            <a:solidFill>
              <a:srgbClr val="E3A0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8380476" y="2971800"/>
            <a:ext cx="640080" cy="640080"/>
          </a:xfrm>
          <a:prstGeom prst="ellipse">
            <a:avLst/>
          </a:prstGeom>
          <a:solidFill>
            <a:srgbClr val="B23A3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8380476" y="297180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60"/>
              <a:buFont typeface="Inter"/>
              <a:buNone/>
            </a:pPr>
            <a:r>
              <a:rPr b="1" i="0" lang="en-US" sz="196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✗</a:t>
            </a:r>
            <a:endParaRPr b="0" i="0" sz="1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7603236" y="3703320"/>
            <a:ext cx="21945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3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Partner Portal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548640" y="4892040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500"/>
              <a:buFont typeface="Inter"/>
              <a:buNone/>
            </a:pPr>
            <a:r>
              <a:rPr b="0" i="1" lang="en-US" sz="150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This ensures </a:t>
            </a:r>
            <a:r>
              <a:rPr b="1" i="1" lang="en-US" sz="150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sensitive token configurations are used only by authorized clients.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2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12 / 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4" name="Google Shape;40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3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Resource URI Association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548640" y="1097280"/>
            <a:ext cx="10607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An ATM instance can also be associated with specific Resource URIs.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3"/>
          <p:cNvSpPr/>
          <p:nvPr/>
        </p:nvSpPr>
        <p:spPr>
          <a:xfrm>
            <a:off x="1828800" y="2011680"/>
            <a:ext cx="8503920" cy="914400"/>
          </a:xfrm>
          <a:prstGeom prst="roundRect">
            <a:avLst>
              <a:gd fmla="val 10000" name="adj"/>
            </a:avLst>
          </a:prstGeom>
          <a:solidFill>
            <a:srgbClr val="F3F6FC"/>
          </a:solidFill>
          <a:ln cap="flat" cmpd="sng" w="15875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2103120" y="20116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"/>
          <p:cNvSpPr/>
          <p:nvPr/>
        </p:nvSpPr>
        <p:spPr>
          <a:xfrm>
            <a:off x="2834640" y="2011680"/>
            <a:ext cx="7132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700"/>
              <a:buFont typeface="Courier New"/>
              <a:buNone/>
            </a:pPr>
            <a:r>
              <a:rPr b="1" i="0" lang="en-US" sz="1700" u="none" cap="none" strike="noStrike">
                <a:solidFill>
                  <a:srgbClr val="1A1F3B"/>
                </a:solidFill>
                <a:latin typeface="Courier New"/>
                <a:ea typeface="Courier New"/>
                <a:cs typeface="Courier New"/>
                <a:sym typeface="Courier New"/>
              </a:rPr>
              <a:t>https://api.company.com/hr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5" name="Google Shape;415;p13"/>
          <p:cNvCxnSpPr/>
          <p:nvPr/>
        </p:nvCxnSpPr>
        <p:spPr>
          <a:xfrm>
            <a:off x="6094476" y="2926080"/>
            <a:ext cx="0" cy="502920"/>
          </a:xfrm>
          <a:prstGeom prst="straightConnector1">
            <a:avLst/>
          </a:prstGeom>
          <a:noFill/>
          <a:ln cap="flat" cmpd="sng" w="38100">
            <a:solidFill>
              <a:srgbClr val="D4A64A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16" name="Google Shape;416;p13"/>
          <p:cNvSpPr/>
          <p:nvPr/>
        </p:nvSpPr>
        <p:spPr>
          <a:xfrm>
            <a:off x="3566160" y="3520440"/>
            <a:ext cx="5029200" cy="914400"/>
          </a:xfrm>
          <a:prstGeom prst="roundRect">
            <a:avLst>
              <a:gd fmla="val 10000" name="adj"/>
            </a:avLst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3"/>
          <p:cNvSpPr/>
          <p:nvPr/>
        </p:nvSpPr>
        <p:spPr>
          <a:xfrm>
            <a:off x="3566160" y="352044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Inter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Employee ATM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1371600" y="4892040"/>
            <a:ext cx="94183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450"/>
              <a:buFont typeface="Inter"/>
              <a:buNone/>
            </a:pP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When a client requests access to that resource, </a:t>
            </a:r>
            <a:r>
              <a:rPr b="1" i="0" lang="en-US" sz="1450" u="none" cap="none" strike="noStrike">
                <a:solidFill>
                  <a:srgbClr val="1E2761"/>
                </a:solidFill>
                <a:latin typeface="Inter"/>
                <a:ea typeface="Inter"/>
                <a:cs typeface="Inter"/>
                <a:sym typeface="Inter"/>
              </a:rPr>
              <a:t>PingFederate automatically selects the corresponding ATM instance.</a:t>
            </a:r>
            <a:r>
              <a:rPr b="0" i="0" lang="en-US" sz="1450" u="none" cap="none" strike="noStrike">
                <a:solidFill>
                  <a:srgbClr val="1A1F3B"/>
                </a:solidFill>
                <a:latin typeface="Inter"/>
                <a:ea typeface="Inter"/>
                <a:cs typeface="Inter"/>
                <a:sym typeface="Inter"/>
              </a:rPr>
              <a:t> This simplifies deployments where different APIs require different token formats or claim sets.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9" name="Google Shape;4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4"/>
          <p:cNvSpPr/>
          <p:nvPr/>
        </p:nvSpPr>
        <p:spPr>
          <a:xfrm>
            <a:off x="548640" y="4572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2800"/>
              <a:buFont typeface="Inter"/>
              <a:buNone/>
            </a:pPr>
            <a:r>
              <a:rPr b="0" i="0" lang="en-US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Best Practices</a:t>
            </a:r>
            <a:endParaRPr b="0" i="0" sz="3000" u="none" cap="none" strike="noStrike">
              <a:solidFill>
                <a:schemeClr val="dk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sp>
        <p:nvSpPr>
          <p:cNvPr id="426" name="Google Shape;426;p14"/>
          <p:cNvSpPr/>
          <p:nvPr/>
        </p:nvSpPr>
        <p:spPr>
          <a:xfrm>
            <a:off x="548650" y="1723145"/>
            <a:ext cx="5120700" cy="1122300"/>
          </a:xfrm>
          <a:prstGeom prst="roundRect">
            <a:avLst>
              <a:gd fmla="val 8929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4"/>
          <p:cNvSpPr/>
          <p:nvPr/>
        </p:nvSpPr>
        <p:spPr>
          <a:xfrm>
            <a:off x="749818" y="1983654"/>
            <a:ext cx="5487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679"/>
              <a:buFont typeface="Inter"/>
              <a:buNone/>
            </a:pPr>
            <a:r>
              <a:rPr b="1" i="0" lang="en-US" sz="178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7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4"/>
          <p:cNvSpPr/>
          <p:nvPr/>
        </p:nvSpPr>
        <p:spPr>
          <a:xfrm>
            <a:off x="749818" y="1983654"/>
            <a:ext cx="548700" cy="601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9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4"/>
          <p:cNvSpPr/>
          <p:nvPr/>
        </p:nvSpPr>
        <p:spPr>
          <a:xfrm>
            <a:off x="1463049" y="1823340"/>
            <a:ext cx="4069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Multiple ATM Instances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4"/>
          <p:cNvSpPr/>
          <p:nvPr/>
        </p:nvSpPr>
        <p:spPr>
          <a:xfrm>
            <a:off x="1463049" y="2244163"/>
            <a:ext cx="40692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Inter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Separate configurations for Employees, Partners, Mobile apps, and External APIs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4"/>
          <p:cNvSpPr/>
          <p:nvPr/>
        </p:nvSpPr>
        <p:spPr>
          <a:xfrm>
            <a:off x="6035042" y="1723145"/>
            <a:ext cx="5120700" cy="1122300"/>
          </a:xfrm>
          <a:prstGeom prst="roundRect">
            <a:avLst>
              <a:gd fmla="val 8929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4"/>
          <p:cNvSpPr/>
          <p:nvPr/>
        </p:nvSpPr>
        <p:spPr>
          <a:xfrm>
            <a:off x="6236210" y="1983654"/>
            <a:ext cx="548700" cy="601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4"/>
          <p:cNvSpPr/>
          <p:nvPr/>
        </p:nvSpPr>
        <p:spPr>
          <a:xfrm>
            <a:off x="6236210" y="1983654"/>
            <a:ext cx="5487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679"/>
              <a:buFont typeface="Inter"/>
              <a:buNone/>
            </a:pPr>
            <a:r>
              <a:rPr b="1" i="0" lang="en-US" sz="178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78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4"/>
          <p:cNvSpPr/>
          <p:nvPr/>
        </p:nvSpPr>
        <p:spPr>
          <a:xfrm>
            <a:off x="6949441" y="1823340"/>
            <a:ext cx="4069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Choose JWT for Modern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4"/>
          <p:cNvSpPr/>
          <p:nvPr/>
        </p:nvSpPr>
        <p:spPr>
          <a:xfrm>
            <a:off x="6949441" y="2244163"/>
            <a:ext cx="40692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Inter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Ideal for REST APIs, cloud-native apps, microservices, high-performance environments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"/>
          <p:cNvSpPr/>
          <p:nvPr/>
        </p:nvSpPr>
        <p:spPr>
          <a:xfrm>
            <a:off x="548650" y="3233708"/>
            <a:ext cx="5120700" cy="1122300"/>
          </a:xfrm>
          <a:prstGeom prst="roundRect">
            <a:avLst>
              <a:gd fmla="val 8929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4"/>
          <p:cNvSpPr/>
          <p:nvPr/>
        </p:nvSpPr>
        <p:spPr>
          <a:xfrm>
            <a:off x="749818" y="3494217"/>
            <a:ext cx="548700" cy="601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4"/>
          <p:cNvSpPr/>
          <p:nvPr/>
        </p:nvSpPr>
        <p:spPr>
          <a:xfrm>
            <a:off x="749818" y="3494217"/>
            <a:ext cx="5487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679"/>
              <a:buFont typeface="Inter"/>
              <a:buNone/>
            </a:pPr>
            <a:r>
              <a:rPr b="1" i="0" lang="en-US" sz="178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b="0" i="0" sz="178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4"/>
          <p:cNvSpPr/>
          <p:nvPr/>
        </p:nvSpPr>
        <p:spPr>
          <a:xfrm>
            <a:off x="1463049" y="3333904"/>
            <a:ext cx="4069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Reference Tokens for Sensitive APIs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"/>
          <p:cNvSpPr/>
          <p:nvPr/>
        </p:nvSpPr>
        <p:spPr>
          <a:xfrm>
            <a:off x="1463049" y="3754726"/>
            <a:ext cx="40692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Inter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When immediate revocation or centralized validation is required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4"/>
          <p:cNvSpPr/>
          <p:nvPr/>
        </p:nvSpPr>
        <p:spPr>
          <a:xfrm>
            <a:off x="6035042" y="3233708"/>
            <a:ext cx="5120700" cy="1122300"/>
          </a:xfrm>
          <a:prstGeom prst="roundRect">
            <a:avLst>
              <a:gd fmla="val 8929" name="adj"/>
            </a:avLst>
          </a:prstGeom>
          <a:solidFill>
            <a:srgbClr val="F3F6FC"/>
          </a:solidFill>
          <a:ln cap="flat" cmpd="sng" w="12700">
            <a:solidFill>
              <a:srgbClr val="D9E1F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4"/>
          <p:cNvSpPr/>
          <p:nvPr/>
        </p:nvSpPr>
        <p:spPr>
          <a:xfrm>
            <a:off x="6236210" y="3494217"/>
            <a:ext cx="548700" cy="6012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6236210" y="3494217"/>
            <a:ext cx="548700" cy="60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A64A"/>
              </a:buClr>
              <a:buSzPts val="1679"/>
              <a:buFont typeface="Inter"/>
              <a:buNone/>
            </a:pPr>
            <a:r>
              <a:rPr b="1" i="0" lang="en-US" sz="178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b="0" i="0" sz="178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949441" y="3333904"/>
            <a:ext cx="4069200" cy="42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F3B"/>
              </a:buClr>
              <a:buSzPts val="1350"/>
              <a:buFont typeface="Inter"/>
              <a:buNone/>
            </a:pPr>
            <a:r>
              <a:rPr b="1" i="0" lang="en-US" sz="14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Keep Token Lifetimes Appropriate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4"/>
          <p:cNvSpPr/>
          <p:nvPr/>
        </p:nvSpPr>
        <p:spPr>
          <a:xfrm>
            <a:off x="6949441" y="3754726"/>
            <a:ext cx="4069200" cy="55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50"/>
              <a:buFont typeface="Inter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High-risk: 5–10 min · Internal: 15–30 min · Long integrations: only when justified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4"/>
          <p:cNvSpPr/>
          <p:nvPr/>
        </p:nvSpPr>
        <p:spPr>
          <a:xfrm>
            <a:off x="548607" y="4736600"/>
            <a:ext cx="5120700" cy="1024200"/>
          </a:xfrm>
          <a:prstGeom prst="roundRect">
            <a:avLst>
              <a:gd fmla="val 8929" name="adj"/>
            </a:avLst>
          </a:prstGeom>
          <a:solidFill>
            <a:srgbClr val="F3F6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4"/>
          <p:cNvSpPr/>
          <p:nvPr/>
        </p:nvSpPr>
        <p:spPr>
          <a:xfrm>
            <a:off x="777203" y="4974348"/>
            <a:ext cx="548700" cy="548700"/>
          </a:xfrm>
          <a:prstGeom prst="ellipse">
            <a:avLst/>
          </a:prstGeom>
          <a:solidFill>
            <a:srgbClr val="D4A64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4"/>
          <p:cNvSpPr/>
          <p:nvPr/>
        </p:nvSpPr>
        <p:spPr>
          <a:xfrm>
            <a:off x="777203" y="4974348"/>
            <a:ext cx="548700" cy="54870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679"/>
              <a:buFont typeface="Inter"/>
              <a:buNone/>
            </a:pPr>
            <a:r>
              <a:rPr b="1" i="0" lang="en-US" sz="168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b="1" i="0" sz="168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14"/>
          <p:cNvSpPr/>
          <p:nvPr/>
        </p:nvSpPr>
        <p:spPr>
          <a:xfrm>
            <a:off x="1508720" y="4846325"/>
            <a:ext cx="2501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Inter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Protect Signing Keys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4"/>
          <p:cNvSpPr/>
          <p:nvPr/>
        </p:nvSpPr>
        <p:spPr>
          <a:xfrm>
            <a:off x="1508718" y="5212100"/>
            <a:ext cx="406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Inter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 RSA 2048-bit+ or EC keys; rotate regularly; overlap keys during rollover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1" name="Google Shape;45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5"/>
          <p:cNvSpPr/>
          <p:nvPr/>
        </p:nvSpPr>
        <p:spPr>
          <a:xfrm>
            <a:off x="548640" y="41148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Inter"/>
              <a:buNone/>
            </a:pPr>
            <a:r>
              <a:rPr b="1" i="0" lang="en-US" sz="270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End-to-End Token Issuance Flow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5"/>
          <p:cNvSpPr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Inter"/>
              <a:buNone/>
            </a:pPr>
            <a:r>
              <a:rPr b="0" i="1" lang="en-US" sz="13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complete OAuth pipeline in PingFederate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850392" y="160020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5"/>
          <p:cNvSpPr/>
          <p:nvPr/>
        </p:nvSpPr>
        <p:spPr>
          <a:xfrm>
            <a:off x="896112" y="16002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OAuth 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1" name="Google Shape;461;p15"/>
          <p:cNvCxnSpPr/>
          <p:nvPr/>
        </p:nvCxnSpPr>
        <p:spPr>
          <a:xfrm>
            <a:off x="2816352" y="198882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2" name="Google Shape;462;p15"/>
          <p:cNvSpPr/>
          <p:nvPr/>
        </p:nvSpPr>
        <p:spPr>
          <a:xfrm>
            <a:off x="2980944" y="160020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"/>
          <p:cNvSpPr/>
          <p:nvPr/>
        </p:nvSpPr>
        <p:spPr>
          <a:xfrm>
            <a:off x="3026664" y="16002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Authorization Request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5"/>
          <p:cNvCxnSpPr/>
          <p:nvPr/>
        </p:nvCxnSpPr>
        <p:spPr>
          <a:xfrm>
            <a:off x="4946904" y="198882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5" name="Google Shape;465;p15"/>
          <p:cNvSpPr/>
          <p:nvPr/>
        </p:nvSpPr>
        <p:spPr>
          <a:xfrm>
            <a:off x="5111496" y="160020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5157216" y="16002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 Policy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7" name="Google Shape;467;p15"/>
          <p:cNvCxnSpPr/>
          <p:nvPr/>
        </p:nvCxnSpPr>
        <p:spPr>
          <a:xfrm>
            <a:off x="7077456" y="198882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68" name="Google Shape;468;p15"/>
          <p:cNvSpPr/>
          <p:nvPr/>
        </p:nvSpPr>
        <p:spPr>
          <a:xfrm>
            <a:off x="7242048" y="160020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7287768" y="16002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 Adapter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0" name="Google Shape;470;p15"/>
          <p:cNvCxnSpPr/>
          <p:nvPr/>
        </p:nvCxnSpPr>
        <p:spPr>
          <a:xfrm>
            <a:off x="9208008" y="198882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1" name="Google Shape;471;p15"/>
          <p:cNvSpPr/>
          <p:nvPr/>
        </p:nvSpPr>
        <p:spPr>
          <a:xfrm>
            <a:off x="9372600" y="160020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5"/>
          <p:cNvSpPr/>
          <p:nvPr/>
        </p:nvSpPr>
        <p:spPr>
          <a:xfrm>
            <a:off x="9418320" y="160020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Authentication Contract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3" name="Google Shape;473;p15"/>
          <p:cNvCxnSpPr/>
          <p:nvPr/>
        </p:nvCxnSpPr>
        <p:spPr>
          <a:xfrm>
            <a:off x="10355580" y="2377440"/>
            <a:ext cx="0" cy="45720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4" name="Google Shape;474;p15"/>
          <p:cNvSpPr/>
          <p:nvPr/>
        </p:nvSpPr>
        <p:spPr>
          <a:xfrm>
            <a:off x="850392" y="283464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5"/>
          <p:cNvSpPr/>
          <p:nvPr/>
        </p:nvSpPr>
        <p:spPr>
          <a:xfrm>
            <a:off x="896112" y="283464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OAuth Policy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6" name="Google Shape;476;p15"/>
          <p:cNvCxnSpPr/>
          <p:nvPr/>
        </p:nvCxnSpPr>
        <p:spPr>
          <a:xfrm>
            <a:off x="2816352" y="322326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77" name="Google Shape;477;p15"/>
          <p:cNvSpPr/>
          <p:nvPr/>
        </p:nvSpPr>
        <p:spPr>
          <a:xfrm>
            <a:off x="2980944" y="283464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5"/>
          <p:cNvSpPr/>
          <p:nvPr/>
        </p:nvSpPr>
        <p:spPr>
          <a:xfrm>
            <a:off x="3026664" y="283464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Access Token Mapping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15"/>
          <p:cNvCxnSpPr/>
          <p:nvPr/>
        </p:nvCxnSpPr>
        <p:spPr>
          <a:xfrm>
            <a:off x="4946904" y="322326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0" name="Google Shape;480;p15"/>
          <p:cNvSpPr/>
          <p:nvPr/>
        </p:nvSpPr>
        <p:spPr>
          <a:xfrm>
            <a:off x="5111496" y="283464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D4A64A"/>
          </a:solidFill>
          <a:ln cap="flat" cmpd="sng" w="12700">
            <a:solidFill>
              <a:srgbClr val="D4A6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5"/>
          <p:cNvSpPr/>
          <p:nvPr/>
        </p:nvSpPr>
        <p:spPr>
          <a:xfrm>
            <a:off x="5157216" y="283464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A45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rPr>
              <a:t>Access Token Manager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2" name="Google Shape;482;p15"/>
          <p:cNvCxnSpPr/>
          <p:nvPr/>
        </p:nvCxnSpPr>
        <p:spPr>
          <a:xfrm>
            <a:off x="7077456" y="322326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3" name="Google Shape;483;p15"/>
          <p:cNvSpPr/>
          <p:nvPr/>
        </p:nvSpPr>
        <p:spPr>
          <a:xfrm>
            <a:off x="7242048" y="283464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5"/>
          <p:cNvSpPr/>
          <p:nvPr/>
        </p:nvSpPr>
        <p:spPr>
          <a:xfrm>
            <a:off x="7287768" y="283464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JWT / Reference Token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5" name="Google Shape;485;p15"/>
          <p:cNvCxnSpPr/>
          <p:nvPr/>
        </p:nvCxnSpPr>
        <p:spPr>
          <a:xfrm>
            <a:off x="9208008" y="3223260"/>
            <a:ext cx="164592" cy="0"/>
          </a:xfrm>
          <a:prstGeom prst="straightConnector1">
            <a:avLst/>
          </a:prstGeom>
          <a:noFill/>
          <a:ln cap="flat" cmpd="sng" w="22225">
            <a:solidFill>
              <a:srgbClr val="CADCF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6" name="Google Shape;486;p15"/>
          <p:cNvSpPr/>
          <p:nvPr/>
        </p:nvSpPr>
        <p:spPr>
          <a:xfrm>
            <a:off x="9372600" y="2834640"/>
            <a:ext cx="1965960" cy="777240"/>
          </a:xfrm>
          <a:prstGeom prst="roundRect">
            <a:avLst>
              <a:gd fmla="val 9412" name="adj"/>
            </a:avLst>
          </a:prstGeom>
          <a:solidFill>
            <a:srgbClr val="141A45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5"/>
          <p:cNvSpPr/>
          <p:nvPr/>
        </p:nvSpPr>
        <p:spPr>
          <a:xfrm>
            <a:off x="9418320" y="2834640"/>
            <a:ext cx="18745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Protected API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5"/>
          <p:cNvSpPr/>
          <p:nvPr/>
        </p:nvSpPr>
        <p:spPr>
          <a:xfrm>
            <a:off x="914400" y="4160520"/>
            <a:ext cx="10332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Inter"/>
              <a:buNone/>
            </a:pPr>
            <a:r>
              <a:rPr b="0" i="1" lang="en-US" sz="12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Access Token Manager is the final stage — applying token model, lifetime, claims, and validation behavior before the token is issued.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5"/>
          <p:cNvSpPr/>
          <p:nvPr/>
        </p:nvSpPr>
        <p:spPr>
          <a:xfrm>
            <a:off x="11000232" y="6528816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6584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rPr>
              <a:t>15 / 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0" name="Google Shape;49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16410" y="6032696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5" name="Google Shape;495;g3f5b949dfd2_0_183"/>
          <p:cNvGrpSpPr/>
          <p:nvPr/>
        </p:nvGrpSpPr>
        <p:grpSpPr>
          <a:xfrm>
            <a:off x="548640" y="382102"/>
            <a:ext cx="10607100" cy="594300"/>
            <a:chOff x="0" y="0"/>
            <a:chExt cx="10607100" cy="594300"/>
          </a:xfrm>
        </p:grpSpPr>
        <p:sp>
          <p:nvSpPr>
            <p:cNvPr id="496" name="Google Shape;496;g3f5b949dfd2_0_183"/>
            <p:cNvSpPr/>
            <p:nvPr/>
          </p:nvSpPr>
          <p:spPr>
            <a:xfrm>
              <a:off x="0" y="0"/>
              <a:ext cx="10607100" cy="5943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g3f5b949dfd2_0_183"/>
            <p:cNvSpPr txBox="1"/>
            <p:nvPr/>
          </p:nvSpPr>
          <p:spPr>
            <a:xfrm>
              <a:off x="0" y="0"/>
              <a:ext cx="10607100" cy="5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-US" sz="3000" u="none" cap="none" strike="noStrike">
                  <a:solidFill>
                    <a:srgbClr val="1A1F3B"/>
                  </a:solidFill>
                  <a:latin typeface="Inter ExtraBold"/>
                  <a:ea typeface="Inter ExtraBold"/>
                  <a:cs typeface="Inter ExtraBold"/>
                  <a:sym typeface="Inter ExtraBold"/>
                </a:rPr>
                <a:t>Recap</a:t>
              </a:r>
              <a:endParaRPr b="0" i="0" sz="3000" u="none" cap="none" strike="noStrike">
                <a:solidFill>
                  <a:srgbClr val="1A1F3B"/>
                </a:solidFill>
                <a:latin typeface="Inter ExtraBold"/>
                <a:ea typeface="Inter ExtraBold"/>
                <a:cs typeface="Inter ExtraBold"/>
                <a:sym typeface="Inter ExtraBold"/>
              </a:endParaRPr>
            </a:p>
          </p:txBody>
        </p:sp>
      </p:grpSp>
      <p:grpSp>
        <p:nvGrpSpPr>
          <p:cNvPr id="498" name="Google Shape;498;g3f5b949dfd2_0_183"/>
          <p:cNvGrpSpPr/>
          <p:nvPr/>
        </p:nvGrpSpPr>
        <p:grpSpPr>
          <a:xfrm>
            <a:off x="548640" y="1005840"/>
            <a:ext cx="9144000" cy="365700"/>
            <a:chOff x="0" y="0"/>
            <a:chExt cx="9144000" cy="365700"/>
          </a:xfrm>
        </p:grpSpPr>
        <p:sp>
          <p:nvSpPr>
            <p:cNvPr id="499" name="Google Shape;499;g3f5b949dfd2_0_183"/>
            <p:cNvSpPr/>
            <p:nvPr/>
          </p:nvSpPr>
          <p:spPr>
            <a:xfrm>
              <a:off x="0" y="0"/>
              <a:ext cx="9144000" cy="365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g3f5b949dfd2_0_183"/>
            <p:cNvSpPr txBox="1"/>
            <p:nvPr/>
          </p:nvSpPr>
          <p:spPr>
            <a:xfrm>
              <a:off x="0" y="0"/>
              <a:ext cx="9144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1" lang="en-US" sz="1400" u="none" cap="none" strike="noStrike">
                  <a:solidFill>
                    <a:srgbClr val="5B6584"/>
                  </a:solidFill>
                  <a:latin typeface="Inter"/>
                  <a:ea typeface="Inter"/>
                  <a:cs typeface="Inter"/>
                  <a:sym typeface="Inter"/>
                </a:rPr>
                <a:t>Remember this sequence:</a:t>
              </a:r>
              <a:endParaRPr b="0" i="1" sz="1400" u="none" cap="none" strike="noStrike">
                <a:solidFill>
                  <a:srgbClr val="5B6584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1" name="Google Shape;501;g3f5b949dfd2_0_183"/>
          <p:cNvGrpSpPr/>
          <p:nvPr/>
        </p:nvGrpSpPr>
        <p:grpSpPr>
          <a:xfrm>
            <a:off x="662940" y="1463040"/>
            <a:ext cx="2011800" cy="914400"/>
            <a:chOff x="0" y="0"/>
            <a:chExt cx="2011800" cy="914400"/>
          </a:xfrm>
        </p:grpSpPr>
        <p:sp>
          <p:nvSpPr>
            <p:cNvPr id="502" name="Google Shape;502;g3f5b949dfd2_0_183"/>
            <p:cNvSpPr/>
            <p:nvPr/>
          </p:nvSpPr>
          <p:spPr>
            <a:xfrm>
              <a:off x="0" y="0"/>
              <a:ext cx="2011800" cy="914400"/>
            </a:xfrm>
            <a:prstGeom prst="roundRect">
              <a:avLst>
                <a:gd fmla="val 1000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g3f5b949dfd2_0_183"/>
            <p:cNvSpPr txBox="1"/>
            <p:nvPr/>
          </p:nvSpPr>
          <p:spPr>
            <a:xfrm>
              <a:off x="0" y="0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Authenticate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User/Client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04" name="Google Shape;504;g3f5b949dfd2_0_183"/>
          <p:cNvGrpSpPr/>
          <p:nvPr/>
        </p:nvGrpSpPr>
        <p:grpSpPr>
          <a:xfrm>
            <a:off x="2674620" y="1878330"/>
            <a:ext cx="163968" cy="83700"/>
            <a:chOff x="0" y="-41910"/>
            <a:chExt cx="163968" cy="83700"/>
          </a:xfrm>
        </p:grpSpPr>
        <p:sp>
          <p:nvSpPr>
            <p:cNvPr id="505" name="Google Shape;505;g3f5b949dfd2_0_183"/>
            <p:cNvSpPr/>
            <p:nvPr/>
          </p:nvSpPr>
          <p:spPr>
            <a:xfrm>
              <a:off x="0" y="0"/>
              <a:ext cx="48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5425">
              <a:solidFill>
                <a:srgbClr val="5B65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g3f5b949dfd2_0_183"/>
            <p:cNvSpPr/>
            <p:nvPr/>
          </p:nvSpPr>
          <p:spPr>
            <a:xfrm>
              <a:off x="48768" y="-41910"/>
              <a:ext cx="115200" cy="83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6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5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7" name="Google Shape;507;g3f5b949dfd2_0_183"/>
          <p:cNvGrpSpPr/>
          <p:nvPr/>
        </p:nvGrpSpPr>
        <p:grpSpPr>
          <a:xfrm>
            <a:off x="2875788" y="1463040"/>
            <a:ext cx="2011800" cy="914400"/>
            <a:chOff x="0" y="0"/>
            <a:chExt cx="2011800" cy="914400"/>
          </a:xfrm>
        </p:grpSpPr>
        <p:sp>
          <p:nvSpPr>
            <p:cNvPr id="508" name="Google Shape;508;g3f5b949dfd2_0_183"/>
            <p:cNvSpPr/>
            <p:nvPr/>
          </p:nvSpPr>
          <p:spPr>
            <a:xfrm>
              <a:off x="0" y="0"/>
              <a:ext cx="2011800" cy="914400"/>
            </a:xfrm>
            <a:prstGeom prst="roundRect">
              <a:avLst>
                <a:gd fmla="val 1000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g3f5b949dfd2_0_183"/>
            <p:cNvSpPr txBox="1"/>
            <p:nvPr/>
          </p:nvSpPr>
          <p:spPr>
            <a:xfrm>
              <a:off x="0" y="0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Evaluate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OAuth Policy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0" name="Google Shape;510;g3f5b949dfd2_0_183"/>
          <p:cNvGrpSpPr/>
          <p:nvPr/>
        </p:nvGrpSpPr>
        <p:grpSpPr>
          <a:xfrm>
            <a:off x="4887468" y="1878330"/>
            <a:ext cx="163968" cy="83700"/>
            <a:chOff x="0" y="-41910"/>
            <a:chExt cx="163968" cy="83700"/>
          </a:xfrm>
        </p:grpSpPr>
        <p:sp>
          <p:nvSpPr>
            <p:cNvPr id="511" name="Google Shape;511;g3f5b949dfd2_0_183"/>
            <p:cNvSpPr/>
            <p:nvPr/>
          </p:nvSpPr>
          <p:spPr>
            <a:xfrm>
              <a:off x="0" y="0"/>
              <a:ext cx="48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5425">
              <a:solidFill>
                <a:srgbClr val="5B65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g3f5b949dfd2_0_183"/>
            <p:cNvSpPr/>
            <p:nvPr/>
          </p:nvSpPr>
          <p:spPr>
            <a:xfrm>
              <a:off x="48768" y="-41910"/>
              <a:ext cx="115200" cy="83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6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5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3" name="Google Shape;513;g3f5b949dfd2_0_183"/>
          <p:cNvGrpSpPr/>
          <p:nvPr/>
        </p:nvGrpSpPr>
        <p:grpSpPr>
          <a:xfrm>
            <a:off x="5088636" y="1463040"/>
            <a:ext cx="2011800" cy="914400"/>
            <a:chOff x="0" y="0"/>
            <a:chExt cx="2011800" cy="914400"/>
          </a:xfrm>
        </p:grpSpPr>
        <p:sp>
          <p:nvSpPr>
            <p:cNvPr id="514" name="Google Shape;514;g3f5b949dfd2_0_183"/>
            <p:cNvSpPr/>
            <p:nvPr/>
          </p:nvSpPr>
          <p:spPr>
            <a:xfrm>
              <a:off x="0" y="0"/>
              <a:ext cx="2011800" cy="914400"/>
            </a:xfrm>
            <a:prstGeom prst="roundRect">
              <a:avLst>
                <a:gd fmla="val 1000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g3f5b949dfd2_0_183"/>
            <p:cNvSpPr txBox="1"/>
            <p:nvPr/>
          </p:nvSpPr>
          <p:spPr>
            <a:xfrm>
              <a:off x="0" y="0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Perform Token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Mapping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16" name="Google Shape;516;g3f5b949dfd2_0_183"/>
          <p:cNvGrpSpPr/>
          <p:nvPr/>
        </p:nvGrpSpPr>
        <p:grpSpPr>
          <a:xfrm>
            <a:off x="7100316" y="1878330"/>
            <a:ext cx="163968" cy="83700"/>
            <a:chOff x="0" y="-41910"/>
            <a:chExt cx="163968" cy="83700"/>
          </a:xfrm>
        </p:grpSpPr>
        <p:sp>
          <p:nvSpPr>
            <p:cNvPr id="517" name="Google Shape;517;g3f5b949dfd2_0_183"/>
            <p:cNvSpPr/>
            <p:nvPr/>
          </p:nvSpPr>
          <p:spPr>
            <a:xfrm>
              <a:off x="0" y="0"/>
              <a:ext cx="48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5425">
              <a:solidFill>
                <a:srgbClr val="5B65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g3f5b949dfd2_0_183"/>
            <p:cNvSpPr/>
            <p:nvPr/>
          </p:nvSpPr>
          <p:spPr>
            <a:xfrm>
              <a:off x="48768" y="-41910"/>
              <a:ext cx="115200" cy="83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6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5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19" name="Google Shape;519;g3f5b949dfd2_0_183"/>
          <p:cNvGrpSpPr/>
          <p:nvPr/>
        </p:nvGrpSpPr>
        <p:grpSpPr>
          <a:xfrm>
            <a:off x="7301484" y="1463040"/>
            <a:ext cx="2011800" cy="914400"/>
            <a:chOff x="0" y="0"/>
            <a:chExt cx="2011800" cy="914400"/>
          </a:xfrm>
        </p:grpSpPr>
        <p:sp>
          <p:nvSpPr>
            <p:cNvPr id="520" name="Google Shape;520;g3f5b949dfd2_0_183"/>
            <p:cNvSpPr/>
            <p:nvPr/>
          </p:nvSpPr>
          <p:spPr>
            <a:xfrm>
              <a:off x="0" y="0"/>
              <a:ext cx="2011800" cy="914400"/>
            </a:xfrm>
            <a:prstGeom prst="roundRect">
              <a:avLst>
                <a:gd fmla="val 10000" name="adj"/>
              </a:avLst>
            </a:prstGeom>
            <a:solidFill>
              <a:srgbClr val="1E276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g3f5b949dfd2_0_183"/>
            <p:cNvSpPr txBox="1"/>
            <p:nvPr/>
          </p:nvSpPr>
          <p:spPr>
            <a:xfrm>
              <a:off x="0" y="0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Select Access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Token Manager</a:t>
              </a:r>
              <a:endParaRPr b="1" i="0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22" name="Google Shape;522;g3f5b949dfd2_0_183"/>
          <p:cNvGrpSpPr/>
          <p:nvPr/>
        </p:nvGrpSpPr>
        <p:grpSpPr>
          <a:xfrm>
            <a:off x="9313164" y="1878330"/>
            <a:ext cx="163968" cy="83700"/>
            <a:chOff x="0" y="-41910"/>
            <a:chExt cx="163968" cy="83700"/>
          </a:xfrm>
        </p:grpSpPr>
        <p:sp>
          <p:nvSpPr>
            <p:cNvPr id="523" name="Google Shape;523;g3f5b949dfd2_0_183"/>
            <p:cNvSpPr/>
            <p:nvPr/>
          </p:nvSpPr>
          <p:spPr>
            <a:xfrm>
              <a:off x="0" y="0"/>
              <a:ext cx="4890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25425">
              <a:solidFill>
                <a:srgbClr val="5B65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g3f5b949dfd2_0_183"/>
            <p:cNvSpPr/>
            <p:nvPr/>
          </p:nvSpPr>
          <p:spPr>
            <a:xfrm>
              <a:off x="48768" y="-41910"/>
              <a:ext cx="115200" cy="83700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120000" y="60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58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25" name="Google Shape;525;g3f5b949dfd2_0_183"/>
          <p:cNvGrpSpPr/>
          <p:nvPr/>
        </p:nvGrpSpPr>
        <p:grpSpPr>
          <a:xfrm>
            <a:off x="9514332" y="1463040"/>
            <a:ext cx="2011800" cy="914400"/>
            <a:chOff x="0" y="0"/>
            <a:chExt cx="2011800" cy="914400"/>
          </a:xfrm>
        </p:grpSpPr>
        <p:sp>
          <p:nvSpPr>
            <p:cNvPr id="526" name="Google Shape;526;g3f5b949dfd2_0_183"/>
            <p:cNvSpPr/>
            <p:nvPr/>
          </p:nvSpPr>
          <p:spPr>
            <a:xfrm>
              <a:off x="0" y="0"/>
              <a:ext cx="2011800" cy="914400"/>
            </a:xfrm>
            <a:prstGeom prst="roundRect">
              <a:avLst>
                <a:gd fmla="val 10000" name="adj"/>
              </a:avLst>
            </a:prstGeom>
            <a:solidFill>
              <a:srgbClr val="D4A6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g3f5b949dfd2_0_183"/>
            <p:cNvSpPr txBox="1"/>
            <p:nvPr/>
          </p:nvSpPr>
          <p:spPr>
            <a:xfrm>
              <a:off x="0" y="0"/>
              <a:ext cx="2011800" cy="9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141A45"/>
                  </a:solidFill>
                  <a:latin typeface="Inter"/>
                  <a:ea typeface="Inter"/>
                  <a:cs typeface="Inter"/>
                  <a:sym typeface="Inter"/>
                </a:rPr>
                <a:t>Issue JWT or</a:t>
              </a:r>
              <a:endParaRPr b="1" i="0" sz="115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50"/>
                <a:buFont typeface="Arial"/>
                <a:buNone/>
              </a:pPr>
              <a:r>
                <a:rPr b="1" i="0" lang="en-US" sz="1150" u="none" cap="none" strike="noStrike">
                  <a:solidFill>
                    <a:srgbClr val="141A45"/>
                  </a:solidFill>
                  <a:latin typeface="Inter"/>
                  <a:ea typeface="Inter"/>
                  <a:cs typeface="Inter"/>
                  <a:sym typeface="Inter"/>
                </a:rPr>
                <a:t>Reference Token</a:t>
              </a:r>
              <a:endParaRPr b="1" i="0" sz="1150" u="none" cap="none" strike="noStrike">
                <a:solidFill>
                  <a:srgbClr val="141A45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aphicFrame>
        <p:nvGraphicFramePr>
          <p:cNvPr id="528" name="Google Shape;528;g3f5b949dfd2_0_183"/>
          <p:cNvGraphicFramePr/>
          <p:nvPr/>
        </p:nvGraphicFramePr>
        <p:xfrm>
          <a:off x="548640" y="26974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{F2C521AF-7885-438B-912F-CB11D026CBB5}</a:tableStyleId>
              </a:tblPr>
              <a:tblGrid>
                <a:gridCol w="4023375"/>
                <a:gridCol w="7040875"/>
              </a:tblGrid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highlight>
                            <a:srgbClr val="1E276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Concept</a:t>
                      </a:r>
                      <a:endParaRPr b="1" sz="1150" u="none" cap="none" strike="noStrike">
                        <a:solidFill>
                          <a:srgbClr val="FFFFFF"/>
                        </a:solidFill>
                        <a:highlight>
                          <a:srgbClr val="1E2761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highlight>
                            <a:srgbClr val="1E2761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Purpose</a:t>
                      </a:r>
                      <a:endParaRPr b="1" sz="1150" u="none" cap="none" strike="noStrike">
                        <a:solidFill>
                          <a:srgbClr val="FFFFFF"/>
                        </a:solidFill>
                        <a:highlight>
                          <a:srgbClr val="1E2761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Access Token Management (ATM)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Creates, secures, and manages OAuth access tokens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ATM Instance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 configurable token factory with its own rules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JWT Token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Self-contained token validated locally by APIs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Reference Token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Pointer token validated through PingFederate introspection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Access Control List (ACL)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Restricts which OAuth clients may use an ATM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Resource URI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Associates APIs with a specific ATM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Token Lifetime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Controls how long issued access tokens remain valid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206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Default ATM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b="0" lang="en-US" sz="1150" u="none" cap="none" strike="noStrike">
                          <a:solidFill>
                            <a:srgbClr val="1A1F3B"/>
                          </a:solidFill>
                          <a:highlight>
                            <a:srgbClr val="FFFFFF"/>
                          </a:highlight>
                          <a:latin typeface="Inter"/>
                          <a:ea typeface="Inter"/>
                          <a:cs typeface="Inter"/>
                          <a:sym typeface="Inter"/>
                        </a:rPr>
                        <a:t>Used when no explicit ATM is selected</a:t>
                      </a:r>
                      <a:endParaRPr b="0" sz="1150" u="none" cap="none" strike="noStrike">
                        <a:solidFill>
                          <a:srgbClr val="1A1F3B"/>
                        </a:solidFill>
                        <a:highlight>
                          <a:srgbClr val="FFFFFF"/>
                        </a:highlight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T="45700" marB="45700" marR="91425" marL="91425">
                    <a:lnL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9E1F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29" name="Google Shape;529;g3f5b949dfd2_0_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80842" y="6032697"/>
            <a:ext cx="901500" cy="90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4" name="Google Shape;534;g3f971a3f183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9475" y="45181"/>
            <a:ext cx="12191999" cy="68128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2026-07-25T19:28:12Z</dcterms:created>
  <dc:creator>PptxGenJS</dc:creator>
</cp:coreProperties>
</file>